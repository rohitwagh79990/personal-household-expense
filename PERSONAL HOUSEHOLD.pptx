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7" r:id="rId3"/>
    <p:sldId id="258" r:id="rId4"/>
    <p:sldId id="259" r:id="rId5"/>
    <p:sldId id="287" r:id="rId6"/>
    <p:sldId id="282" r:id="rId7"/>
    <p:sldId id="283" r:id="rId8"/>
    <p:sldId id="284" r:id="rId9"/>
    <p:sldId id="285" r:id="rId10"/>
    <p:sldId id="286"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2.png"/><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image" Target="../media/image3.png"/><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image" Target="../media/image4.png"/><Relationship Id="rId2" Type="http://schemas.openxmlformats.org/officeDocument/2006/relationships/tags" Target="../tags/tag53.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pic>
        <p:nvPicPr>
          <p:cNvPr id="7" name="@png_bg"/>
          <p:cNvPicPr>
            <a:picLocks noChangeAspect="1"/>
          </p:cNvPicPr>
          <p:nvPr>
            <p:custDataLst>
              <p:tags r:id="rId2"/>
            </p:custDataLst>
          </p:nvPr>
        </p:nvPicPr>
        <p:blipFill>
          <a:blip r:embed="rId3"/>
          <a:stretch>
            <a:fillRect/>
          </a:stretch>
        </p:blipFill>
        <p:spPr>
          <a:xfrm>
            <a:off x="1414923" y="1742132"/>
            <a:ext cx="10777077" cy="5115868"/>
          </a:xfrm>
          <a:prstGeom prst="rect">
            <a:avLst/>
          </a:prstGeom>
        </p:spPr>
      </p:pic>
      <p:sp>
        <p:nvSpPr>
          <p:cNvPr id="2" name="标题 1"/>
          <p:cNvSpPr>
            <a:spLocks noGrp="1"/>
          </p:cNvSpPr>
          <p:nvPr>
            <p:ph type="ctrTitle" hasCustomPrompt="1"/>
            <p:custDataLst>
              <p:tags r:id="rId4"/>
            </p:custDataLst>
          </p:nvPr>
        </p:nvSpPr>
        <p:spPr>
          <a:xfrm>
            <a:off x="694690" y="1306195"/>
            <a:ext cx="6951980" cy="2449195"/>
          </a:xfrm>
        </p:spPr>
        <p:txBody>
          <a:bodyPr anchor="b">
            <a:normAutofit/>
          </a:bodyPr>
          <a:lstStyle>
            <a:lvl1pPr algn="l">
              <a:lnSpc>
                <a:spcPct val="100000"/>
              </a:lnSpc>
              <a:defRPr sz="5400">
                <a:latin typeface="+mj-lt"/>
                <a:sym typeface="Arial" panose="020B0604020202020204" pitchFamily="34" charset="0"/>
              </a:defRPr>
            </a:lvl1pPr>
          </a:lstStyle>
          <a:p>
            <a:r>
              <a:rPr lang="en-US" dirty="0">
                <a:sym typeface="+mn-ea"/>
              </a:rPr>
              <a:t>Click to add title</a:t>
            </a:r>
            <a:endParaRPr lang="en-US" dirty="0">
              <a:latin typeface="+mj-lt"/>
            </a:endParaRPr>
          </a:p>
        </p:txBody>
      </p:sp>
      <p:sp>
        <p:nvSpPr>
          <p:cNvPr id="24" name="署名占位符 10"/>
          <p:cNvSpPr>
            <a:spLocks noGrp="1"/>
          </p:cNvSpPr>
          <p:nvPr>
            <p:ph type="body" sz="quarter" idx="17" hasCustomPrompt="1"/>
            <p:custDataLst>
              <p:tags r:id="rId5"/>
            </p:custDataLst>
          </p:nvPr>
        </p:nvSpPr>
        <p:spPr>
          <a:xfrm>
            <a:off x="694690" y="4182110"/>
            <a:ext cx="3918585" cy="504190"/>
          </a:xfrm>
        </p:spPr>
        <p:txBody>
          <a:bodyPr anchor="ctr">
            <a:normAutofit/>
          </a:bodyPr>
          <a:lstStyle>
            <a:lvl1pPr marL="0" indent="0" algn="l">
              <a:lnSpc>
                <a:spcPct val="100000"/>
              </a:lnSpc>
              <a:buNone/>
              <a:defRPr sz="1800">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8"/>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9"/>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20"/>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4" name="@png_bg"/>
          <p:cNvPicPr>
            <a:picLocks noChangeAspect="1"/>
          </p:cNvPicPr>
          <p:nvPr>
            <p:custDataLst>
              <p:tags r:id="rId2"/>
            </p:custDataLst>
          </p:nvPr>
        </p:nvPicPr>
        <p:blipFill>
          <a:blip r:embed="rId3"/>
          <a:stretch>
            <a:fillRect/>
          </a:stretch>
        </p:blipFill>
        <p:spPr>
          <a:xfrm>
            <a:off x="0" y="2551882"/>
            <a:ext cx="7341844" cy="4302942"/>
          </a:xfrm>
          <a:prstGeom prst="rect">
            <a:avLst/>
          </a:prstGeom>
        </p:spPr>
      </p:pic>
      <p:sp>
        <p:nvSpPr>
          <p:cNvPr id="2" name="标题 1"/>
          <p:cNvSpPr>
            <a:spLocks noGrp="1"/>
          </p:cNvSpPr>
          <p:nvPr>
            <p:ph type="title" hasCustomPrompt="1"/>
            <p:custDataLst>
              <p:tags r:id="rId4"/>
            </p:custDataLst>
          </p:nvPr>
        </p:nvSpPr>
        <p:spPr>
          <a:xfrm>
            <a:off x="2114416" y="1303507"/>
            <a:ext cx="2880000" cy="2346658"/>
          </a:xfrm>
        </p:spPr>
        <p:txBody>
          <a:bodyPr anchor="ctr">
            <a:normAutofit/>
          </a:bodyPr>
          <a:lstStyle>
            <a:lvl1pPr>
              <a:defRPr sz="4400">
                <a:latin typeface="+mj-lt"/>
                <a:sym typeface="Arial" panose="020B0604020202020204" pitchFamily="34" charset="0"/>
              </a:defRPr>
            </a:lvl1pPr>
          </a:lstStyle>
          <a:p>
            <a:r>
              <a:rPr lang="en-US" dirty="0">
                <a:latin typeface="+mj-lt"/>
              </a:rPr>
              <a:t>Click to add title</a:t>
            </a:r>
            <a:endParaRPr lang="en-US" dirty="0"/>
          </a:p>
        </p:txBody>
      </p:sp>
      <p:sp>
        <p:nvSpPr>
          <p:cNvPr id="7" name="日期占位符 3"/>
          <p:cNvSpPr>
            <a:spLocks noGrp="1"/>
          </p:cNvSpPr>
          <p:nvPr>
            <p:ph type="dt" sz="half" idx="10"/>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8" name="页脚占位符 4"/>
          <p:cNvSpPr>
            <a:spLocks noGrp="1"/>
          </p:cNvSpPr>
          <p:nvPr>
            <p:ph type="ftr" sz="quarter" idx="11"/>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pic>
        <p:nvPicPr>
          <p:cNvPr id="7" name="@png_bg"/>
          <p:cNvPicPr>
            <a:picLocks noChangeAspect="1"/>
          </p:cNvPicPr>
          <p:nvPr>
            <p:custDataLst>
              <p:tags r:id="rId2"/>
            </p:custDataLst>
          </p:nvPr>
        </p:nvPicPr>
        <p:blipFill>
          <a:blip r:embed="rId3"/>
          <a:stretch>
            <a:fillRect/>
          </a:stretch>
        </p:blipFill>
        <p:spPr>
          <a:xfrm>
            <a:off x="2987730" y="1496287"/>
            <a:ext cx="9204270" cy="5358465"/>
          </a:xfrm>
          <a:prstGeom prst="rect">
            <a:avLst/>
          </a:prstGeom>
        </p:spPr>
      </p:pic>
      <p:sp>
        <p:nvSpPr>
          <p:cNvPr id="2" name="标题 1"/>
          <p:cNvSpPr>
            <a:spLocks noGrp="1"/>
          </p:cNvSpPr>
          <p:nvPr>
            <p:ph type="title" hasCustomPrompt="1"/>
            <p:custDataLst>
              <p:tags r:id="rId4"/>
            </p:custDataLst>
          </p:nvPr>
        </p:nvSpPr>
        <p:spPr>
          <a:xfrm>
            <a:off x="1322070" y="3168015"/>
            <a:ext cx="8319770" cy="2193925"/>
          </a:xfrm>
        </p:spPr>
        <p:txBody>
          <a:bodyPr anchor="t">
            <a:normAutofit/>
          </a:bodyPr>
          <a:lstStyle>
            <a:lvl1pPr algn="l">
              <a:defRPr sz="4400">
                <a:latin typeface="+mj-lt"/>
                <a:sym typeface="Arial" panose="020B0604020202020204" pitchFamily="34" charset="0"/>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5"/>
            </p:custDataLst>
          </p:nvPr>
        </p:nvSpPr>
        <p:spPr>
          <a:xfrm>
            <a:off x="1322070" y="1767840"/>
            <a:ext cx="8319770" cy="1224280"/>
          </a:xfrm>
        </p:spPr>
        <p:txBody>
          <a:bodyPr wrap="none" anchor="b">
            <a:normAutofit/>
          </a:bodyPr>
          <a:lstStyle>
            <a:lvl1pPr marL="0" indent="0" algn="l">
              <a:buNone/>
              <a:defRPr sz="8000" b="1">
                <a:latin typeface="+mn-lt"/>
                <a:sym typeface="Arial" panose="020B0604020202020204" pitchFamily="34" charset="0"/>
              </a:defRPr>
            </a:lvl1pPr>
          </a:lstStyle>
          <a:p>
            <a:pPr lvl="0"/>
            <a:r>
              <a:rPr lang="en-US" dirty="0">
                <a:latin typeface="+mn-lt"/>
              </a:rPr>
              <a:t>Click to add text</a:t>
            </a:r>
            <a:endParaRPr lang="en-US" dirty="0"/>
          </a:p>
        </p:txBody>
      </p:sp>
      <p:sp>
        <p:nvSpPr>
          <p:cNvPr id="3" name="日期占位符 2"/>
          <p:cNvSpPr>
            <a:spLocks noGrp="1"/>
          </p:cNvSpPr>
          <p:nvPr>
            <p:ph type="dt" sz="half" idx="14"/>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5"/>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6"/>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内容占位符 2"/>
          <p:cNvSpPr>
            <a:spLocks noGrp="1"/>
          </p:cNvSpPr>
          <p:nvPr>
            <p:ph sz="half" idx="1" hasCustomPrompt="1"/>
            <p:custDataLst>
              <p:tags r:id="rId2"/>
            </p:custDataLst>
          </p:nvPr>
        </p:nvSpPr>
        <p:spPr>
          <a:xfrm>
            <a:off x="694799" y="1266825"/>
            <a:ext cx="5181600" cy="4910775"/>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3"/>
            </p:custDataLst>
          </p:nvPr>
        </p:nvSpPr>
        <p:spPr>
          <a:xfrm>
            <a:off x="6313200" y="1266825"/>
            <a:ext cx="5181600" cy="4910775"/>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5" name="日期占位符 4"/>
          <p:cNvSpPr>
            <a:spLocks noGrp="1"/>
          </p:cNvSpPr>
          <p:nvPr>
            <p:ph type="dt" sz="half" idx="10"/>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6" name="页脚占位符 5"/>
          <p:cNvSpPr>
            <a:spLocks noGrp="1"/>
          </p:cNvSpPr>
          <p:nvPr>
            <p:ph type="ftr" sz="quarter" idx="11"/>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12"/>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8" name="标题 7"/>
          <p:cNvSpPr>
            <a:spLocks noGrp="1"/>
          </p:cNvSpPr>
          <p:nvPr>
            <p:ph type="title" hasCustomPrompt="1"/>
            <p:custDataLst>
              <p:tags r:id="rId7"/>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4800" y="1277189"/>
            <a:ext cx="5157787" cy="540000"/>
          </a:xfrm>
        </p:spPr>
        <p:txBody>
          <a:bodyPr anchor="b"/>
          <a:lstStyle>
            <a:lvl1pPr marL="0" indent="0">
              <a:buNone/>
              <a:defRPr sz="2400" b="1">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3"/>
            </p:custDataLst>
          </p:nvPr>
        </p:nvSpPr>
        <p:spPr>
          <a:xfrm>
            <a:off x="694800" y="1916723"/>
            <a:ext cx="5157787" cy="4272940"/>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4"/>
            </p:custDataLst>
          </p:nvPr>
        </p:nvSpPr>
        <p:spPr>
          <a:xfrm>
            <a:off x="6311612" y="1277189"/>
            <a:ext cx="5183188" cy="540000"/>
          </a:xfrm>
        </p:spPr>
        <p:txBody>
          <a:bodyPr anchor="b"/>
          <a:lstStyle>
            <a:lvl1pPr marL="0" indent="0">
              <a:buNone/>
              <a:defRPr sz="2400" b="1">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5"/>
            </p:custDataLst>
          </p:nvPr>
        </p:nvSpPr>
        <p:spPr>
          <a:xfrm>
            <a:off x="6311612" y="1916723"/>
            <a:ext cx="5183188" cy="4272940"/>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11" name="日期占位符 10"/>
          <p:cNvSpPr>
            <a:spLocks noGrp="1"/>
          </p:cNvSpPr>
          <p:nvPr>
            <p:ph type="dt" sz="half" idx="10"/>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12" name="页脚占位符 11"/>
          <p:cNvSpPr>
            <a:spLocks noGrp="1"/>
          </p:cNvSpPr>
          <p:nvPr>
            <p:ph type="ftr" sz="quarter" idx="11"/>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13" name="灯片编号占位符 12"/>
          <p:cNvSpPr>
            <a:spLocks noGrp="1"/>
          </p:cNvSpPr>
          <p:nvPr>
            <p:ph type="sldNum" sz="quarter" idx="12"/>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dirty="0"/>
          </a:p>
        </p:txBody>
      </p:sp>
      <p:sp>
        <p:nvSpPr>
          <p:cNvPr id="14" name="标题 13"/>
          <p:cNvSpPr>
            <a:spLocks noGrp="1"/>
          </p:cNvSpPr>
          <p:nvPr>
            <p:ph type="title" hasCustomPrompt="1"/>
            <p:custDataLst>
              <p:tags r:id="rId9"/>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4" name="灯片编号占位符 3"/>
          <p:cNvSpPr>
            <a:spLocks noGrp="1"/>
          </p:cNvSpPr>
          <p:nvPr>
            <p:ph type="sldNum" sz="quarter" idx="12"/>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685800" y="360000"/>
            <a:ext cx="10814050" cy="5817600"/>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4"/>
          <p:cNvSpPr>
            <a:spLocks noGrp="1"/>
          </p:cNvSpPr>
          <p:nvPr>
            <p:ph type="sldNum" sz="quarter" idx="12"/>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4799" y="1266825"/>
            <a:ext cx="10805051" cy="576000"/>
          </a:xfrm>
        </p:spPr>
        <p:txBody>
          <a:bodyPr anchor="t"/>
          <a:lstStyle>
            <a:lvl1pPr marL="0" indent="0">
              <a:buNone/>
              <a:defRPr sz="2400" b="0">
                <a:latin typeface="+mn-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8" name="页脚占位符 4"/>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4" name="标题 3"/>
          <p:cNvSpPr>
            <a:spLocks noGrp="1"/>
          </p:cNvSpPr>
          <p:nvPr>
            <p:ph type="title" hasCustomPrompt="1"/>
            <p:custDataLst>
              <p:tags r:id="rId6"/>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pic>
        <p:nvPicPr>
          <p:cNvPr id="7" name="@png_bg"/>
          <p:cNvPicPr>
            <a:picLocks noChangeAspect="1"/>
          </p:cNvPicPr>
          <p:nvPr>
            <p:custDataLst>
              <p:tags r:id="rId2"/>
            </p:custDataLst>
          </p:nvPr>
        </p:nvPicPr>
        <p:blipFill>
          <a:blip r:embed="rId3"/>
          <a:stretch>
            <a:fillRect/>
          </a:stretch>
        </p:blipFill>
        <p:spPr>
          <a:xfrm>
            <a:off x="2400300" y="1409248"/>
            <a:ext cx="9791699" cy="5448751"/>
          </a:xfrm>
          <a:prstGeom prst="rect">
            <a:avLst/>
          </a:prstGeom>
        </p:spPr>
      </p:pic>
      <p:sp>
        <p:nvSpPr>
          <p:cNvPr id="2" name="标题 1"/>
          <p:cNvSpPr>
            <a:spLocks noGrp="1"/>
          </p:cNvSpPr>
          <p:nvPr>
            <p:ph type="ctrTitle" hasCustomPrompt="1"/>
            <p:custDataLst>
              <p:tags r:id="rId4"/>
            </p:custDataLst>
          </p:nvPr>
        </p:nvSpPr>
        <p:spPr>
          <a:xfrm>
            <a:off x="694799" y="1954800"/>
            <a:ext cx="6094800" cy="1800000"/>
          </a:xfrm>
        </p:spPr>
        <p:txBody>
          <a:bodyPr anchor="b">
            <a:normAutofit/>
          </a:bodyPr>
          <a:lstStyle>
            <a:lvl1pPr algn="l">
              <a:lnSpc>
                <a:spcPct val="100000"/>
              </a:lnSpc>
              <a:defRPr sz="5400">
                <a:latin typeface="+mj-lt"/>
                <a:sym typeface="Arial" panose="020B0604020202020204" pitchFamily="34" charset="0"/>
              </a:defRPr>
            </a:lvl1pPr>
          </a:lstStyle>
          <a:p>
            <a:r>
              <a:rPr lang="en-US" dirty="0">
                <a:latin typeface="+mj-lt"/>
              </a:rPr>
              <a:t>Click to add title</a:t>
            </a:r>
            <a:endParaRPr lang="en-US" dirty="0"/>
          </a:p>
        </p:txBody>
      </p:sp>
      <p:sp>
        <p:nvSpPr>
          <p:cNvPr id="24" name="署名占位符 10"/>
          <p:cNvSpPr>
            <a:spLocks noGrp="1"/>
          </p:cNvSpPr>
          <p:nvPr>
            <p:ph type="body" sz="quarter" idx="17" hasCustomPrompt="1"/>
            <p:custDataLst>
              <p:tags r:id="rId5"/>
            </p:custDataLst>
          </p:nvPr>
        </p:nvSpPr>
        <p:spPr>
          <a:xfrm>
            <a:off x="694690" y="4182110"/>
            <a:ext cx="3918585" cy="504190"/>
          </a:xfrm>
        </p:spPr>
        <p:txBody>
          <a:bodyPr vert="horz" lIns="0" tIns="0" rIns="0" bIns="0" rtlCol="0" anchor="ctr">
            <a:normAutofit/>
          </a:bodyPr>
          <a:lstStyle>
            <a:lvl1pPr marL="0" marR="0" lvl="0" indent="0" algn="l" defTabSz="914400" rtl="0" eaLnBrk="1" fontAlgn="auto" latinLnBrk="0" hangingPunct="1">
              <a:lnSpc>
                <a:spcPct val="100000"/>
              </a:lnSpc>
              <a:spcBef>
                <a:spcPts val="1000"/>
              </a:spcBef>
              <a:buClrTx/>
              <a:buSzTx/>
              <a:buFont typeface="Arial" panose="020B0604020202020204" pitchFamily="34" charset="0"/>
              <a:buNone/>
              <a:defRPr kumimoji="0" lang="en-US" sz="1800" b="0" i="0" u="none" strike="noStrike" kern="1200" cap="none" spc="0" normalizeH="0" baseline="0" noProof="1" dirty="0">
                <a:solidFill>
                  <a:schemeClr val="tx1"/>
                </a:solidFill>
                <a:latin typeface="+mn-lt"/>
              </a:defRPr>
            </a:lvl1pPr>
          </a:lstStyle>
          <a:p>
            <a:pPr lvl="0"/>
            <a:r>
              <a:rPr dirty="0">
                <a:sym typeface="+mn-ea"/>
              </a:rPr>
              <a:t>Click to add text</a:t>
            </a:r>
            <a:endParaRPr dirty="0">
              <a:sym typeface="+mn-ea"/>
            </a:endParaRPr>
          </a:p>
        </p:txBody>
      </p:sp>
      <p:sp>
        <p:nvSpPr>
          <p:cNvPr id="3" name="日期占位符 2"/>
          <p:cNvSpPr>
            <a:spLocks noGrp="1"/>
          </p:cNvSpPr>
          <p:nvPr>
            <p:ph type="dt" sz="half" idx="18"/>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9"/>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20"/>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4800" y="360000"/>
            <a:ext cx="10800000" cy="720000"/>
          </a:xfrm>
          <a:prstGeom prst="rect">
            <a:avLst/>
          </a:prstGeom>
        </p:spPr>
        <p:txBody>
          <a:bodyPr vert="horz"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3"/>
            </p:custDataLst>
          </p:nvPr>
        </p:nvSpPr>
        <p:spPr>
          <a:xfrm>
            <a:off x="694799" y="1266825"/>
            <a:ext cx="10799999" cy="4910775"/>
          </a:xfrm>
          <a:prstGeom prst="rect">
            <a:avLst/>
          </a:prstGeom>
        </p:spPr>
        <p:txBody>
          <a:bodyPr vert="horz"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4"/>
            </p:custDataLst>
          </p:nvPr>
        </p:nvSpPr>
        <p:spPr>
          <a:xfrm>
            <a:off x="694799" y="6356350"/>
            <a:ext cx="2886601"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4"/>
            <p:custDataLst>
              <p:tags r:id="rId16"/>
            </p:custDataLst>
          </p:nvPr>
        </p:nvSpPr>
        <p:spPr>
          <a:xfrm>
            <a:off x="8610600" y="6356350"/>
            <a:ext cx="2884198"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dirty="0"/>
          </a:p>
        </p:txBody>
      </p:sp>
      <p:sp>
        <p:nvSpPr>
          <p:cNvPr id="7" name="KSO_TEMPLATE" hidden="1"/>
          <p:cNvSpPr/>
          <p:nvPr>
            <p:custDataLst>
              <p:tags r:id="rId17"/>
            </p:custDataLst>
          </p:nvPr>
        </p:nvSpPr>
        <p:spPr>
          <a:xfrm>
            <a:off x="0" y="0"/>
            <a:ext cx="0" cy="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600" b="1"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98.xml"/><Relationship Id="rId1" Type="http://schemas.openxmlformats.org/officeDocument/2006/relationships/tags" Target="../tags/tag9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ph type="ctrTitle"/>
            <p:custDataLst>
              <p:tags r:id="rId1"/>
            </p:custDataLst>
          </p:nvPr>
        </p:nvSpPr>
        <p:spPr>
          <a:xfrm>
            <a:off x="694690" y="369570"/>
            <a:ext cx="6951980" cy="3385820"/>
          </a:xfrm>
        </p:spPr>
        <p:txBody>
          <a:bodyPr>
            <a:normAutofit fontScale="90000"/>
          </a:bodyPr>
          <a:lstStyle/>
          <a:p>
            <a:r>
              <a:rPr lang="en-US" altLang="en-US" dirty="0">
                <a:latin typeface="Arial" panose="020B0604020202020204" pitchFamily="34" charset="0"/>
                <a:ea typeface="+mj-ea"/>
              </a:rPr>
              <a:t>PERSONAL HOUSEHOLD</a:t>
            </a:r>
            <a:br>
              <a:rPr lang="en-US" altLang="en-US" dirty="0">
                <a:latin typeface="Arial" panose="020B0604020202020204" pitchFamily="34" charset="0"/>
                <a:ea typeface="+mj-ea"/>
              </a:rPr>
            </a:br>
            <a:r>
              <a:rPr lang="en-US" altLang="en-US" dirty="0">
                <a:latin typeface="Arial" panose="020B0604020202020204" pitchFamily="34" charset="0"/>
                <a:ea typeface="+mj-ea"/>
              </a:rPr>
              <a:t>          </a:t>
            </a:r>
            <a:r>
              <a:rPr lang="en-US" altLang="en-US" sz="3100" dirty="0">
                <a:latin typeface="Arial" panose="020B0604020202020204" pitchFamily="34" charset="0"/>
                <a:ea typeface="+mj-ea"/>
              </a:rPr>
              <a:t>EXPENSE MANAGEMENT &amp;</a:t>
            </a:r>
            <a:br>
              <a:rPr lang="en-US" altLang="en-US" sz="3100" dirty="0">
                <a:latin typeface="Arial" panose="020B0604020202020204" pitchFamily="34" charset="0"/>
                <a:ea typeface="+mj-ea"/>
              </a:rPr>
            </a:br>
            <a:r>
              <a:rPr lang="en-US" altLang="en-US" sz="3100" dirty="0">
                <a:latin typeface="Arial" panose="020B0604020202020204" pitchFamily="34" charset="0"/>
                <a:ea typeface="+mj-ea"/>
              </a:rPr>
              <a:t>             ANALYSIS SYSTEM</a:t>
            </a:r>
            <a:br>
              <a:rPr lang="en-US" altLang="en-US" sz="3100" dirty="0">
                <a:latin typeface="Arial" panose="020B0604020202020204" pitchFamily="34" charset="0"/>
                <a:ea typeface="+mj-ea"/>
              </a:rPr>
            </a:br>
            <a:endParaRPr lang="en-US" altLang="en-US" sz="3100" dirty="0">
              <a:latin typeface="Arial" panose="020B0604020202020204" pitchFamily="34" charset="0"/>
              <a:ea typeface="+mj-ea"/>
            </a:endParaRPr>
          </a:p>
        </p:txBody>
      </p:sp>
      <p:sp>
        <p:nvSpPr>
          <p:cNvPr id="12" name="署名"/>
          <p:cNvSpPr>
            <a:spLocks noGrp="1"/>
          </p:cNvSpPr>
          <p:nvPr>
            <p:ph type="body" sz="quarter" idx="17"/>
            <p:custDataLst>
              <p:tags r:id="rId2"/>
            </p:custDataLst>
          </p:nvPr>
        </p:nvSpPr>
        <p:spPr>
          <a:xfrm>
            <a:off x="1286510" y="4404360"/>
            <a:ext cx="4387215" cy="1539240"/>
          </a:xfrm>
        </p:spPr>
        <p:txBody>
          <a:bodyPr>
            <a:noAutofit/>
          </a:bodyPr>
          <a:lstStyle/>
          <a:p>
            <a:r>
              <a:rPr lang="en-US" altLang="en-US"/>
              <a:t> </a:t>
            </a:r>
            <a:r>
              <a:rPr lang="en-US" altLang="en-US" sz="2400" b="1">
                <a:latin typeface="Arial" panose="020B0604020202020204" pitchFamily="34" charset="0"/>
              </a:rPr>
              <a:t>Presented By:</a:t>
            </a:r>
            <a:endParaRPr lang="en-US" altLang="en-US" sz="2400" b="1">
              <a:latin typeface="Arial" panose="020B0604020202020204" pitchFamily="34" charset="0"/>
            </a:endParaRPr>
          </a:p>
          <a:p>
            <a:r>
              <a:rPr lang="en-US" altLang="en-US" sz="2400" b="1">
                <a:latin typeface="Arial" panose="020B0604020202020204" pitchFamily="34" charset="0"/>
              </a:rPr>
              <a:t>               Wagh Rohit Pralhad</a:t>
            </a:r>
            <a:endParaRPr lang="en-US" altLang="en-US" sz="2400" b="1">
              <a:latin typeface="Arial" panose="020B0604020202020204" pitchFamily="34" charset="0"/>
            </a:endParaRPr>
          </a:p>
          <a:p>
            <a:endParaRPr lang="en-US" altLang="en-US" sz="2400" b="1">
              <a:latin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p:cNvSpPr>
            <a:spLocks noGrp="1"/>
          </p:cNvSpPr>
          <p:nvPr>
            <p:ph type="title"/>
            <p:custDataLst>
              <p:tags r:id="rId1"/>
            </p:custDataLst>
          </p:nvPr>
        </p:nvSpPr>
        <p:spPr>
          <a:xfrm>
            <a:off x="229235" y="1303655"/>
            <a:ext cx="4765040" cy="2346960"/>
          </a:xfrm>
        </p:spPr>
        <p:txBody>
          <a:bodyPr/>
          <a:lstStyle/>
          <a:p>
            <a:r>
              <a:rPr lang="en-US" altLang="en-US">
                <a:latin typeface="Arial" panose="020B0604020202020204" pitchFamily="34" charset="0"/>
                <a:ea typeface="+mj-ea"/>
              </a:rPr>
              <a:t>Business Understanding</a:t>
            </a:r>
            <a:endParaRPr lang="en-US" altLang="en-US">
              <a:latin typeface="Arial" panose="020B0604020202020204" pitchFamily="34" charset="0"/>
              <a:ea typeface="+mj-ea"/>
            </a:endParaRPr>
          </a:p>
        </p:txBody>
      </p:sp>
      <p:sp>
        <p:nvSpPr>
          <p:cNvPr id="54" name="序号"/>
          <p:cNvSpPr txBox="1"/>
          <p:nvPr>
            <p:custDataLst>
              <p:tags r:id="rId2"/>
            </p:custDataLst>
          </p:nvPr>
        </p:nvSpPr>
        <p:spPr>
          <a:xfrm>
            <a:off x="5643245" y="2037080"/>
            <a:ext cx="658495" cy="504190"/>
          </a:xfrm>
          <a:prstGeom prst="rect">
            <a:avLst/>
          </a:prstGeom>
          <a:noFill/>
        </p:spPr>
        <p:txBody>
          <a:bodyPr wrap="none" lIns="0" tIns="0" rIns="0" bIns="0" rtlCol="0" anchor="b" anchorCtr="0">
            <a:noAutofit/>
          </a:bodyPr>
          <a:lstStyle/>
          <a:p>
            <a:pPr algn="r">
              <a:lnSpc>
                <a:spcPct val="100000"/>
              </a:lnSpc>
              <a:spcBef>
                <a:spcPct val="0"/>
              </a:spcBef>
              <a:spcAft>
                <a:spcPct val="0"/>
              </a:spcAft>
            </a:pPr>
            <a:r>
              <a:rPr lang="en-US" b="1" dirty="0">
                <a:solidFill>
                  <a:schemeClr val="tx1">
                    <a:lumMod val="85000"/>
                    <a:lumOff val="15000"/>
                  </a:schemeClr>
                </a:solidFill>
                <a:latin typeface="+mj-lt"/>
                <a:cs typeface="+mn-lt"/>
                <a:sym typeface="+mn-lt"/>
              </a:rPr>
              <a:t>01</a:t>
            </a:r>
            <a:endParaRPr lang="en-US" b="1" dirty="0">
              <a:solidFill>
                <a:schemeClr val="tx1">
                  <a:lumMod val="85000"/>
                  <a:lumOff val="15000"/>
                </a:schemeClr>
              </a:solidFill>
              <a:latin typeface="+mj-lt"/>
              <a:cs typeface="+mn-lt"/>
              <a:sym typeface="+mn-lt"/>
            </a:endParaRPr>
          </a:p>
        </p:txBody>
      </p:sp>
      <p:sp>
        <p:nvSpPr>
          <p:cNvPr id="55" name="项标题"/>
          <p:cNvSpPr txBox="1"/>
          <p:nvPr>
            <p:custDataLst>
              <p:tags r:id="rId3"/>
            </p:custDataLst>
          </p:nvPr>
        </p:nvSpPr>
        <p:spPr>
          <a:xfrm>
            <a:off x="5643245" y="1654810"/>
            <a:ext cx="5681980" cy="887095"/>
          </a:xfrm>
          <a:prstGeom prst="rect">
            <a:avLst/>
          </a:prstGeom>
          <a:noFill/>
        </p:spPr>
        <p:txBody>
          <a:bodyPr wrap="square" lIns="0" tIns="0" rIns="0" bIns="0" rtlCol="0" anchor="b" anchorCtr="0"/>
          <a:lstStyle/>
          <a:p>
            <a:pPr algn="l">
              <a:lnSpc>
                <a:spcPct val="100000"/>
              </a:lnSpc>
              <a:spcBef>
                <a:spcPct val="0"/>
              </a:spcBef>
              <a:spcAft>
                <a:spcPct val="0"/>
              </a:spcAft>
            </a:pPr>
            <a:r>
              <a:rPr lang="en-US" altLang="en-US" sz="2000" b="1" dirty="0">
                <a:solidFill>
                  <a:schemeClr val="tx1">
                    <a:lumMod val="85000"/>
                    <a:lumOff val="15000"/>
                  </a:schemeClr>
                </a:solidFill>
                <a:latin typeface="Arial" panose="020B0604020202020204" pitchFamily="34" charset="0"/>
                <a:cs typeface="Arial" panose="020B0604020202020204" pitchFamily="34" charset="0"/>
                <a:sym typeface="+mn-ea"/>
              </a:rPr>
              <a:t>01 — Problem</a:t>
            </a:r>
            <a:endParaRPr lang="en-US" altLang="en-US" sz="2000" b="1" dirty="0">
              <a:solidFill>
                <a:schemeClr val="tx1">
                  <a:lumMod val="85000"/>
                  <a:lumOff val="15000"/>
                </a:schemeClr>
              </a:solidFill>
              <a:latin typeface="Arial" panose="020B0604020202020204" pitchFamily="34" charset="0"/>
              <a:cs typeface="Arial" panose="020B0604020202020204" pitchFamily="34" charset="0"/>
              <a:sym typeface="+mn-ea"/>
            </a:endParaRPr>
          </a:p>
          <a:p>
            <a:pPr algn="l">
              <a:lnSpc>
                <a:spcPct val="100000"/>
              </a:lnSpc>
              <a:spcBef>
                <a:spcPct val="0"/>
              </a:spcBef>
              <a:spcAft>
                <a:spcPct val="0"/>
              </a:spcAft>
            </a:pPr>
            <a:r>
              <a:rPr lang="en-US" altLang="en-US" sz="2000" b="1" dirty="0">
                <a:solidFill>
                  <a:schemeClr val="tx1">
                    <a:lumMod val="85000"/>
                    <a:lumOff val="15000"/>
                  </a:schemeClr>
                </a:solidFill>
                <a:latin typeface="Arial" panose="020B0604020202020204" pitchFamily="34" charset="0"/>
                <a:cs typeface="Arial" panose="020B0604020202020204" pitchFamily="34" charset="0"/>
                <a:sym typeface="+mn-ea"/>
              </a:rPr>
              <a:t>Difficulty in tracking household expenses manually.</a:t>
            </a:r>
            <a:endParaRPr lang="en-US" altLang="en-US" sz="2000" b="1" dirty="0">
              <a:solidFill>
                <a:schemeClr val="tx1">
                  <a:lumMod val="85000"/>
                  <a:lumOff val="15000"/>
                </a:schemeClr>
              </a:solidFill>
              <a:latin typeface="Arial" panose="020B0604020202020204" pitchFamily="34" charset="0"/>
              <a:cs typeface="Arial" panose="020B0604020202020204" pitchFamily="34" charset="0"/>
              <a:sym typeface="+mn-ea"/>
            </a:endParaRPr>
          </a:p>
        </p:txBody>
      </p:sp>
      <p:sp>
        <p:nvSpPr>
          <p:cNvPr id="57" name="项标题"/>
          <p:cNvSpPr txBox="1"/>
          <p:nvPr>
            <p:custDataLst>
              <p:tags r:id="rId4"/>
            </p:custDataLst>
          </p:nvPr>
        </p:nvSpPr>
        <p:spPr>
          <a:xfrm>
            <a:off x="5643245" y="4029075"/>
            <a:ext cx="4608195" cy="801370"/>
          </a:xfrm>
          <a:prstGeom prst="rect">
            <a:avLst/>
          </a:prstGeom>
          <a:noFill/>
        </p:spPr>
        <p:txBody>
          <a:bodyPr wrap="square" lIns="0" tIns="0" rIns="0" bIns="0" rtlCol="0" anchor="b" anchorCtr="0">
            <a:normAutofit lnSpcReduction="10000"/>
          </a:bodyPr>
          <a:lstStyle/>
          <a:p>
            <a:pPr algn="l">
              <a:lnSpc>
                <a:spcPct val="100000"/>
              </a:lnSpc>
              <a:spcBef>
                <a:spcPct val="0"/>
              </a:spcBef>
              <a:spcAft>
                <a:spcPct val="0"/>
              </a:spcAft>
            </a:pPr>
            <a:r>
              <a:rPr lang="en-US" altLang="en-US" b="1" dirty="0">
                <a:solidFill>
                  <a:schemeClr val="tx1">
                    <a:lumMod val="85000"/>
                    <a:lumOff val="15000"/>
                  </a:schemeClr>
                </a:solidFill>
                <a:latin typeface="Arial" panose="020B0604020202020204" pitchFamily="34" charset="0"/>
                <a:cs typeface="Arial" panose="020B0604020202020204" pitchFamily="34" charset="0"/>
                <a:sym typeface="+mn-ea"/>
              </a:rPr>
              <a:t>03 — Monthly Comparison</a:t>
            </a:r>
            <a:endParaRPr lang="en-US" altLang="en-US" b="1" dirty="0">
              <a:solidFill>
                <a:schemeClr val="tx1">
                  <a:lumMod val="85000"/>
                  <a:lumOff val="15000"/>
                </a:schemeClr>
              </a:solidFill>
              <a:latin typeface="Arial" panose="020B0604020202020204" pitchFamily="34" charset="0"/>
              <a:cs typeface="Arial" panose="020B0604020202020204" pitchFamily="34" charset="0"/>
              <a:sym typeface="+mn-ea"/>
            </a:endParaRPr>
          </a:p>
          <a:p>
            <a:pPr algn="l">
              <a:lnSpc>
                <a:spcPct val="100000"/>
              </a:lnSpc>
              <a:spcBef>
                <a:spcPct val="0"/>
              </a:spcBef>
              <a:spcAft>
                <a:spcPct val="0"/>
              </a:spcAft>
            </a:pPr>
            <a:r>
              <a:rPr lang="en-US" altLang="en-US" b="1" dirty="0">
                <a:solidFill>
                  <a:schemeClr val="tx1">
                    <a:lumMod val="85000"/>
                    <a:lumOff val="15000"/>
                  </a:schemeClr>
                </a:solidFill>
                <a:latin typeface="Arial" panose="020B0604020202020204" pitchFamily="34" charset="0"/>
                <a:cs typeface="Arial" panose="020B0604020202020204" pitchFamily="34" charset="0"/>
                <a:sym typeface="+mn-ea"/>
              </a:rPr>
              <a:t>Difficult to compare spending across different months.</a:t>
            </a:r>
            <a:endParaRPr lang="en-US" altLang="en-US" b="1" dirty="0">
              <a:solidFill>
                <a:schemeClr val="tx1">
                  <a:lumMod val="85000"/>
                  <a:lumOff val="15000"/>
                </a:schemeClr>
              </a:solidFill>
              <a:latin typeface="Arial" panose="020B0604020202020204" pitchFamily="34" charset="0"/>
              <a:cs typeface="Arial" panose="020B0604020202020204" pitchFamily="34" charset="0"/>
              <a:sym typeface="+mn-ea"/>
            </a:endParaRPr>
          </a:p>
        </p:txBody>
      </p:sp>
      <p:sp>
        <p:nvSpPr>
          <p:cNvPr id="59" name="项标题"/>
          <p:cNvSpPr txBox="1"/>
          <p:nvPr>
            <p:custDataLst>
              <p:tags r:id="rId5"/>
            </p:custDataLst>
          </p:nvPr>
        </p:nvSpPr>
        <p:spPr>
          <a:xfrm>
            <a:off x="5643245" y="5152390"/>
            <a:ext cx="4608195" cy="887730"/>
          </a:xfrm>
          <a:prstGeom prst="rect">
            <a:avLst/>
          </a:prstGeom>
          <a:noFill/>
        </p:spPr>
        <p:txBody>
          <a:bodyPr wrap="square" lIns="0" tIns="0" rIns="0" bIns="0" rtlCol="0" anchor="b" anchorCtr="0">
            <a:normAutofit fontScale="90000"/>
          </a:bodyPr>
          <a:lstStyle/>
          <a:p>
            <a:pPr algn="l">
              <a:lnSpc>
                <a:spcPct val="100000"/>
              </a:lnSpc>
              <a:spcBef>
                <a:spcPct val="0"/>
              </a:spcBef>
              <a:spcAft>
                <a:spcPct val="0"/>
              </a:spcAft>
            </a:pPr>
            <a:r>
              <a:rPr lang="en-US" altLang="en-US" b="1" dirty="0">
                <a:solidFill>
                  <a:schemeClr val="tx1">
                    <a:lumMod val="85000"/>
                    <a:lumOff val="15000"/>
                  </a:schemeClr>
                </a:solidFill>
                <a:latin typeface="Arial" panose="020B0604020202020204" pitchFamily="34" charset="0"/>
                <a:cs typeface="Arial" panose="020B0604020202020204" pitchFamily="34" charset="0"/>
                <a:sym typeface="+mn-ea"/>
              </a:rPr>
              <a:t>04 — Need</a:t>
            </a:r>
            <a:endParaRPr lang="en-US" altLang="en-US" b="1" dirty="0">
              <a:solidFill>
                <a:schemeClr val="tx1">
                  <a:lumMod val="85000"/>
                  <a:lumOff val="15000"/>
                </a:schemeClr>
              </a:solidFill>
              <a:latin typeface="Arial" panose="020B0604020202020204" pitchFamily="34" charset="0"/>
              <a:cs typeface="Arial" panose="020B0604020202020204" pitchFamily="34" charset="0"/>
              <a:sym typeface="+mn-ea"/>
            </a:endParaRPr>
          </a:p>
          <a:p>
            <a:pPr algn="l">
              <a:lnSpc>
                <a:spcPct val="100000"/>
              </a:lnSpc>
              <a:spcBef>
                <a:spcPct val="0"/>
              </a:spcBef>
              <a:spcAft>
                <a:spcPct val="0"/>
              </a:spcAft>
            </a:pPr>
            <a:r>
              <a:rPr lang="en-US" altLang="en-US" b="1" dirty="0">
                <a:solidFill>
                  <a:schemeClr val="tx1">
                    <a:lumMod val="85000"/>
                    <a:lumOff val="15000"/>
                  </a:schemeClr>
                </a:solidFill>
                <a:latin typeface="Arial" panose="020B0604020202020204" pitchFamily="34" charset="0"/>
                <a:cs typeface="Arial" panose="020B0604020202020204" pitchFamily="34" charset="0"/>
                <a:sym typeface="+mn-ea"/>
              </a:rPr>
              <a:t>A simple system is needed to record, categorize and analyze household expenses.</a:t>
            </a:r>
            <a:endParaRPr lang="en-US" b="1" dirty="0">
              <a:solidFill>
                <a:schemeClr val="tx1">
                  <a:lumMod val="85000"/>
                  <a:lumOff val="15000"/>
                </a:schemeClr>
              </a:solidFill>
              <a:latin typeface="Arial" panose="020B0604020202020204" pitchFamily="34" charset="0"/>
              <a:cs typeface="Arial" panose="020B0604020202020204" pitchFamily="34" charset="0"/>
              <a:sym typeface="+mn-ea"/>
            </a:endParaRPr>
          </a:p>
        </p:txBody>
      </p:sp>
      <p:sp>
        <p:nvSpPr>
          <p:cNvPr id="61" name="项标题"/>
          <p:cNvSpPr txBox="1"/>
          <p:nvPr>
            <p:custDataLst>
              <p:tags r:id="rId6"/>
            </p:custDataLst>
          </p:nvPr>
        </p:nvSpPr>
        <p:spPr>
          <a:xfrm>
            <a:off x="5643245" y="2874010"/>
            <a:ext cx="5681980" cy="776605"/>
          </a:xfrm>
          <a:prstGeom prst="rect">
            <a:avLst/>
          </a:prstGeom>
          <a:noFill/>
        </p:spPr>
        <p:txBody>
          <a:bodyPr wrap="square" lIns="0" tIns="0" rIns="0" bIns="0" rtlCol="0" anchor="b" anchorCtr="0"/>
          <a:lstStyle/>
          <a:p>
            <a:pPr algn="l">
              <a:lnSpc>
                <a:spcPct val="100000"/>
              </a:lnSpc>
              <a:spcBef>
                <a:spcPct val="0"/>
              </a:spcBef>
              <a:spcAft>
                <a:spcPct val="0"/>
              </a:spcAft>
            </a:pPr>
            <a:r>
              <a:rPr lang="en-US" altLang="en-US" b="1" dirty="0">
                <a:solidFill>
                  <a:schemeClr val="tx1">
                    <a:lumMod val="85000"/>
                    <a:lumOff val="15000"/>
                  </a:schemeClr>
                </a:solidFill>
                <a:latin typeface="Arial" panose="020B0604020202020204" pitchFamily="34" charset="0"/>
                <a:cs typeface="Arial" panose="020B0604020202020204" pitchFamily="34" charset="0"/>
                <a:sym typeface="+mn-ea"/>
              </a:rPr>
              <a:t>02 — Spending Visibility</a:t>
            </a:r>
            <a:endParaRPr lang="en-US" altLang="en-US" b="1" dirty="0">
              <a:solidFill>
                <a:schemeClr val="tx1">
                  <a:lumMod val="85000"/>
                  <a:lumOff val="15000"/>
                </a:schemeClr>
              </a:solidFill>
              <a:latin typeface="Arial" panose="020B0604020202020204" pitchFamily="34" charset="0"/>
              <a:cs typeface="Arial" panose="020B0604020202020204" pitchFamily="34" charset="0"/>
              <a:sym typeface="+mn-ea"/>
            </a:endParaRPr>
          </a:p>
          <a:p>
            <a:pPr algn="l">
              <a:lnSpc>
                <a:spcPct val="100000"/>
              </a:lnSpc>
              <a:spcBef>
                <a:spcPct val="0"/>
              </a:spcBef>
              <a:spcAft>
                <a:spcPct val="0"/>
              </a:spcAft>
            </a:pPr>
            <a:r>
              <a:rPr lang="en-US" altLang="en-US" b="1" dirty="0">
                <a:solidFill>
                  <a:schemeClr val="tx1">
                    <a:lumMod val="85000"/>
                    <a:lumOff val="15000"/>
                  </a:schemeClr>
                </a:solidFill>
                <a:latin typeface="Arial" panose="020B0604020202020204" pitchFamily="34" charset="0"/>
                <a:cs typeface="Arial" panose="020B0604020202020204" pitchFamily="34" charset="0"/>
                <a:sym typeface="+mn-ea"/>
              </a:rPr>
              <a:t>Difficult to identify where most money is being spent.</a:t>
            </a:r>
            <a:endParaRPr lang="en-US" altLang="en-US" b="1" dirty="0">
              <a:solidFill>
                <a:schemeClr val="tx1">
                  <a:lumMod val="85000"/>
                  <a:lumOff val="15000"/>
                </a:schemeClr>
              </a:solidFill>
              <a:latin typeface="Arial" panose="020B0604020202020204" pitchFamily="34" charset="0"/>
              <a:cs typeface="Arial" panose="020B0604020202020204" pitchFamily="34" charset="0"/>
              <a:sym typeface="+mn-ea"/>
            </a:endParaRPr>
          </a:p>
        </p:txBody>
      </p:sp>
    </p:spTree>
    <p:custDataLst>
      <p:tags r:id="rId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p:cNvSpPr>
            <a:spLocks noGrp="1"/>
          </p:cNvSpPr>
          <p:nvPr>
            <p:ph type="title"/>
            <p:custDataLst>
              <p:tags r:id="rId1"/>
            </p:custDataLst>
          </p:nvPr>
        </p:nvSpPr>
        <p:spPr>
          <a:xfrm>
            <a:off x="2086610" y="2070735"/>
            <a:ext cx="8319770" cy="4596765"/>
          </a:xfrm>
        </p:spPr>
        <p:txBody>
          <a:bodyPr>
            <a:noAutofit/>
          </a:bodyPr>
          <a:lstStyle/>
          <a:p>
            <a:r>
              <a:rPr lang="en-US" altLang="en-US" sz="2400" dirty="0">
                <a:latin typeface="Arial" panose="020B0604020202020204" pitchFamily="34" charset="0"/>
                <a:ea typeface="+mj-ea"/>
              </a:rPr>
              <a:t>01 Maintain household expenses systematically.</a:t>
            </a:r>
            <a:br>
              <a:rPr lang="en-US" altLang="en-US" sz="2400" dirty="0">
                <a:latin typeface="Arial" panose="020B0604020202020204" pitchFamily="34" charset="0"/>
                <a:ea typeface="+mj-ea"/>
              </a:rPr>
            </a:br>
            <a:br>
              <a:rPr lang="en-US" altLang="en-US" sz="2400" dirty="0">
                <a:latin typeface="Arial" panose="020B0604020202020204" pitchFamily="34" charset="0"/>
                <a:ea typeface="+mj-ea"/>
              </a:rPr>
            </a:br>
            <a:r>
              <a:rPr lang="en-US" altLang="en-US" sz="2400" dirty="0">
                <a:latin typeface="Arial" panose="020B0604020202020204" pitchFamily="34" charset="0"/>
                <a:ea typeface="+mj-ea"/>
              </a:rPr>
              <a:t>02 Categorize expenses into different spending areas.</a:t>
            </a:r>
            <a:br>
              <a:rPr lang="en-US" altLang="en-US" sz="2400" dirty="0">
                <a:latin typeface="Arial" panose="020B0604020202020204" pitchFamily="34" charset="0"/>
                <a:ea typeface="+mj-ea"/>
              </a:rPr>
            </a:br>
            <a:br>
              <a:rPr lang="en-US" altLang="en-US" sz="2400" dirty="0">
                <a:latin typeface="Arial" panose="020B0604020202020204" pitchFamily="34" charset="0"/>
                <a:ea typeface="+mj-ea"/>
              </a:rPr>
            </a:br>
            <a:r>
              <a:rPr lang="en-US" altLang="en-US" sz="2400" dirty="0">
                <a:latin typeface="Arial" panose="020B0604020202020204" pitchFamily="34" charset="0"/>
                <a:ea typeface="+mj-ea"/>
              </a:rPr>
              <a:t>03 Track family members, vendors and payment methods.</a:t>
            </a:r>
            <a:br>
              <a:rPr lang="en-US" altLang="en-US" sz="2400" dirty="0">
                <a:latin typeface="Arial" panose="020B0604020202020204" pitchFamily="34" charset="0"/>
                <a:ea typeface="+mj-ea"/>
              </a:rPr>
            </a:br>
            <a:br>
              <a:rPr lang="en-US" altLang="en-US" sz="2400" dirty="0">
                <a:latin typeface="Arial" panose="020B0604020202020204" pitchFamily="34" charset="0"/>
                <a:ea typeface="+mj-ea"/>
              </a:rPr>
            </a:br>
            <a:r>
              <a:rPr lang="en-US" altLang="en-US" sz="2400" dirty="0">
                <a:latin typeface="Arial" panose="020B0604020202020204" pitchFamily="34" charset="0"/>
                <a:ea typeface="+mj-ea"/>
              </a:rPr>
              <a:t>04 Compare household expenses across three months.</a:t>
            </a:r>
            <a:br>
              <a:rPr lang="en-US" altLang="en-US" sz="2400" dirty="0">
                <a:latin typeface="Arial" panose="020B0604020202020204" pitchFamily="34" charset="0"/>
                <a:ea typeface="+mj-ea"/>
              </a:rPr>
            </a:br>
            <a:br>
              <a:rPr lang="en-US" altLang="en-US" sz="2400" dirty="0">
                <a:latin typeface="Arial" panose="020B0604020202020204" pitchFamily="34" charset="0"/>
                <a:ea typeface="+mj-ea"/>
              </a:rPr>
            </a:br>
            <a:r>
              <a:rPr lang="en-US" altLang="en-US" sz="2400" dirty="0">
                <a:latin typeface="Arial" panose="020B0604020202020204" pitchFamily="34" charset="0"/>
                <a:ea typeface="+mj-ea"/>
              </a:rPr>
              <a:t>05 Identify major, recurring and high-value expenses.</a:t>
            </a:r>
            <a:br>
              <a:rPr lang="en-US" altLang="en-US" sz="2400" dirty="0">
                <a:latin typeface="Arial" panose="020B0604020202020204" pitchFamily="34" charset="0"/>
                <a:ea typeface="+mj-ea"/>
              </a:rPr>
            </a:br>
            <a:br>
              <a:rPr lang="en-US" altLang="en-US" sz="2400" dirty="0">
                <a:latin typeface="Arial" panose="020B0604020202020204" pitchFamily="34" charset="0"/>
                <a:ea typeface="+mj-ea"/>
              </a:rPr>
            </a:br>
            <a:r>
              <a:rPr lang="en-US" altLang="en-US" sz="2400" dirty="0">
                <a:latin typeface="Arial" panose="020B0604020202020204" pitchFamily="34" charset="0"/>
                <a:ea typeface="+mj-ea"/>
              </a:rPr>
              <a:t>06 Analyze payment behaviour and spending patterns.</a:t>
            </a:r>
            <a:endParaRPr lang="en-US" altLang="en-US" sz="2400" dirty="0">
              <a:latin typeface="Arial" panose="020B0604020202020204" pitchFamily="34" charset="0"/>
              <a:ea typeface="+mj-ea"/>
            </a:endParaRPr>
          </a:p>
        </p:txBody>
      </p:sp>
      <p:sp>
        <p:nvSpPr>
          <p:cNvPr id="14" name="节编号"/>
          <p:cNvSpPr>
            <a:spLocks noGrp="1"/>
          </p:cNvSpPr>
          <p:nvPr>
            <p:ph type="body" sz="quarter" idx="13"/>
            <p:custDataLst>
              <p:tags r:id="rId2"/>
            </p:custDataLst>
          </p:nvPr>
        </p:nvSpPr>
        <p:spPr>
          <a:xfrm>
            <a:off x="656590" y="306070"/>
            <a:ext cx="8319770" cy="1224280"/>
          </a:xfrm>
        </p:spPr>
        <p:txBody>
          <a:bodyPr>
            <a:normAutofit fontScale="90000" lnSpcReduction="20000"/>
          </a:bodyPr>
          <a:lstStyle/>
          <a:p>
            <a:pPr algn="l"/>
            <a:r>
              <a:rPr lang="en-US" altLang="en-US" dirty="0">
                <a:latin typeface="Arial" panose="020B0604020202020204" pitchFamily="34" charset="0"/>
              </a:rPr>
              <a:t>Objectives</a:t>
            </a:r>
            <a:endParaRPr lang="en-US" altLang="en-US" dirty="0">
              <a:latin typeface="Arial" panose="020B0604020202020204" pitchFamily="3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a:xfrm>
            <a:off x="275590" y="172085"/>
            <a:ext cx="12967970" cy="945515"/>
          </a:xfrm>
        </p:spPr>
        <p:txBody>
          <a:bodyPr>
            <a:normAutofit/>
          </a:bodyPr>
          <a:p>
            <a:r>
              <a:rPr lang="en-US" altLang="en-US">
                <a:latin typeface="Arial" panose="020B0604020202020204" pitchFamily="34" charset="0"/>
                <a:sym typeface="+mn-ea"/>
              </a:rPr>
              <a:t>Constraints &amp; Challenges</a:t>
            </a:r>
            <a:endParaRPr lang="en-US">
              <a:latin typeface="Arial" panose="020B0604020202020204" pitchFamily="34" charset="0"/>
            </a:endParaRPr>
          </a:p>
        </p:txBody>
      </p:sp>
      <p:sp>
        <p:nvSpPr>
          <p:cNvPr id="3" name="Text Placeholder 2"/>
          <p:cNvSpPr>
            <a:spLocks noGrp="1"/>
          </p:cNvSpPr>
          <p:nvPr>
            <p:ph type="body" sz="quarter" idx="17"/>
            <p:custDataLst>
              <p:tags r:id="rId2"/>
            </p:custDataLst>
          </p:nvPr>
        </p:nvSpPr>
        <p:spPr>
          <a:xfrm>
            <a:off x="818515" y="1520190"/>
            <a:ext cx="11093450" cy="4657725"/>
          </a:xfrm>
        </p:spPr>
        <p:txBody>
          <a:bodyPr/>
          <a:p>
            <a:r>
              <a:rPr lang="en-US" altLang="en-US" sz="3200">
                <a:latin typeface="Arial" panose="020B0604020202020204" pitchFamily="34" charset="0"/>
                <a:sym typeface="+mn-ea"/>
              </a:rPr>
              <a:t>01 Collecting accurate household expense information.</a:t>
            </a:r>
            <a:endParaRPr lang="en-US" altLang="en-US" sz="3200">
              <a:latin typeface="Arial" panose="020B0604020202020204" pitchFamily="34" charset="0"/>
            </a:endParaRPr>
          </a:p>
          <a:p>
            <a:r>
              <a:rPr lang="en-US" altLang="en-US" sz="3200">
                <a:latin typeface="Arial" panose="020B0604020202020204" pitchFamily="34" charset="0"/>
                <a:sym typeface="+mn-ea"/>
              </a:rPr>
              <a:t>02 Organizing expenses into correct categories and subcategories.</a:t>
            </a:r>
            <a:endParaRPr lang="en-US" altLang="en-US" sz="3200">
              <a:latin typeface="Arial" panose="020B0604020202020204" pitchFamily="34" charset="0"/>
            </a:endParaRPr>
          </a:p>
          <a:p>
            <a:r>
              <a:rPr lang="en-US" altLang="en-US" sz="3200">
                <a:latin typeface="Arial" panose="020B0604020202020204" pitchFamily="34" charset="0"/>
                <a:sym typeface="+mn-ea"/>
              </a:rPr>
              <a:t>03 Maintaining correct dates, amounts and transaction details.</a:t>
            </a:r>
            <a:endParaRPr lang="en-US" altLang="en-US" sz="3200">
              <a:latin typeface="Arial" panose="020B0604020202020204" pitchFamily="34" charset="0"/>
            </a:endParaRPr>
          </a:p>
          <a:p>
            <a:r>
              <a:rPr lang="en-US" altLang="en-US" sz="3200">
                <a:latin typeface="Arial" panose="020B0604020202020204" pitchFamily="34" charset="0"/>
                <a:sym typeface="+mn-ea"/>
              </a:rPr>
              <a:t>04 Handling duplicate or missing expense records.</a:t>
            </a:r>
            <a:endParaRPr lang="en-US" altLang="en-US" sz="3200">
              <a:latin typeface="Arial" panose="020B0604020202020204" pitchFamily="34" charset="0"/>
            </a:endParaRPr>
          </a:p>
          <a:p>
            <a:r>
              <a:rPr lang="en-US" altLang="en-US" sz="3200">
                <a:latin typeface="Arial" panose="020B0604020202020204" pitchFamily="34" charset="0"/>
                <a:sym typeface="+mn-ea"/>
              </a:rPr>
              <a:t>05 Keeping household financial information private.</a:t>
            </a:r>
            <a:endParaRPr lang="en-US" altLang="en-US" sz="3200">
              <a:latin typeface="Arial" panose="020B0604020202020204" pitchFamily="34" charset="0"/>
              <a:sym typeface="+mn-ea"/>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a:xfrm>
            <a:off x="349885" y="221615"/>
            <a:ext cx="6951980" cy="1117600"/>
          </a:xfrm>
        </p:spPr>
        <p:txBody>
          <a:bodyPr/>
          <a:p>
            <a:r>
              <a:rPr lang="en-US" altLang="en-US">
                <a:latin typeface="Arial" panose="020B0604020202020204" pitchFamily="34" charset="0"/>
              </a:rPr>
              <a:t>Data Understanding</a:t>
            </a:r>
            <a:endParaRPr lang="en-US" altLang="en-US">
              <a:latin typeface="Arial" panose="020B0604020202020204" pitchFamily="34" charset="0"/>
            </a:endParaRPr>
          </a:p>
        </p:txBody>
      </p:sp>
      <p:sp>
        <p:nvSpPr>
          <p:cNvPr id="3" name="Text Placeholder 2"/>
          <p:cNvSpPr>
            <a:spLocks noGrp="1"/>
          </p:cNvSpPr>
          <p:nvPr>
            <p:ph type="body" sz="quarter" idx="17"/>
            <p:custDataLst>
              <p:tags r:id="rId2"/>
            </p:custDataLst>
          </p:nvPr>
        </p:nvSpPr>
        <p:spPr>
          <a:xfrm>
            <a:off x="694690" y="1656080"/>
            <a:ext cx="10069195" cy="5039360"/>
          </a:xfrm>
        </p:spPr>
        <p:txBody>
          <a:bodyPr>
            <a:noAutofit/>
          </a:bodyPr>
          <a:p>
            <a:r>
              <a:rPr lang="en-US" altLang="en-US" sz="2400">
                <a:latin typeface="Arial" panose="020B0604020202020204" pitchFamily="34" charset="0"/>
              </a:rPr>
              <a:t>My Household Expense Dataset</a:t>
            </a:r>
            <a:endParaRPr lang="en-US" altLang="en-US" sz="2400">
              <a:latin typeface="Arial" panose="020B0604020202020204" pitchFamily="34" charset="0"/>
            </a:endParaRPr>
          </a:p>
          <a:p>
            <a:endParaRPr lang="en-US" altLang="en-US" sz="2400">
              <a:latin typeface="Arial" panose="020B0604020202020204" pitchFamily="34" charset="0"/>
            </a:endParaRPr>
          </a:p>
          <a:p>
            <a:r>
              <a:rPr lang="en-US" altLang="en-US" sz="2400">
                <a:latin typeface="Arial" panose="020B0604020202020204" pitchFamily="34" charset="0"/>
              </a:rPr>
              <a:t>Data Period: March – May 2026</a:t>
            </a:r>
            <a:endParaRPr lang="en-US" altLang="en-US" sz="2400">
              <a:latin typeface="Arial" panose="020B0604020202020204" pitchFamily="34" charset="0"/>
            </a:endParaRPr>
          </a:p>
          <a:p>
            <a:r>
              <a:rPr lang="en-US" altLang="en-US" sz="2400">
                <a:latin typeface="Arial" panose="020B0604020202020204" pitchFamily="34" charset="0"/>
              </a:rPr>
              <a:t>Total Transactions: 59</a:t>
            </a:r>
            <a:endParaRPr lang="en-US" altLang="en-US" sz="2400">
              <a:latin typeface="Arial" panose="020B0604020202020204" pitchFamily="34" charset="0"/>
            </a:endParaRPr>
          </a:p>
          <a:p>
            <a:r>
              <a:rPr lang="en-US" altLang="en-US" sz="2400">
                <a:latin typeface="Arial" panose="020B0604020202020204" pitchFamily="34" charset="0"/>
              </a:rPr>
              <a:t>Database: PostgreSQL</a:t>
            </a:r>
            <a:endParaRPr lang="en-US" altLang="en-US" sz="2400">
              <a:latin typeface="Arial" panose="020B0604020202020204" pitchFamily="34" charset="0"/>
            </a:endParaRPr>
          </a:p>
          <a:p>
            <a:r>
              <a:rPr lang="en-US" altLang="en-US" sz="2400">
                <a:latin typeface="Arial" panose="020B0604020202020204" pitchFamily="34" charset="0"/>
              </a:rPr>
              <a:t>Data Source: Real household expense records</a:t>
            </a:r>
            <a:endParaRPr lang="en-US" altLang="en-US" sz="2400">
              <a:latin typeface="Arial" panose="020B0604020202020204" pitchFamily="34" charset="0"/>
            </a:endParaRPr>
          </a:p>
          <a:p>
            <a:r>
              <a:rPr lang="en-US" altLang="en-US" sz="2400">
                <a:latin typeface="Arial" panose="020B0604020202020204" pitchFamily="34" charset="0"/>
              </a:rPr>
              <a:t>Categories: Grocery, Education, Transportation, Housing, Utilities, Medical, Shopping, etc.</a:t>
            </a:r>
            <a:endParaRPr lang="en-US" altLang="en-US" sz="2400">
              <a:latin typeface="Arial" panose="020B0604020202020204" pitchFamily="34" charset="0"/>
            </a:endParaRPr>
          </a:p>
          <a:p>
            <a:r>
              <a:rPr lang="en-US" altLang="en-US" sz="2400">
                <a:latin typeface="Arial" panose="020B0604020202020204" pitchFamily="34" charset="0"/>
              </a:rPr>
              <a:t>Payment Methods: Cash, UPI, Debit Card, Credit Card, Net Banking, Cheque</a:t>
            </a:r>
            <a:endParaRPr lang="en-US" altLang="en-US" sz="2400">
              <a:latin typeface="Arial" panose="020B0604020202020204" pitchFamily="34" charset="0"/>
            </a:endParaRPr>
          </a:p>
          <a:p>
            <a:r>
              <a:rPr lang="en-US" altLang="en-US" sz="2400">
                <a:latin typeface="Arial" panose="020B0604020202020204" pitchFamily="34" charset="0"/>
              </a:rPr>
              <a:t>Family Members: Father, Mother, Brother, Uncle, Son, Sister</a:t>
            </a:r>
            <a:endParaRPr lang="en-US" altLang="en-US" sz="2400">
              <a:latin typeface="Arial" panose="020B0604020202020204" pitchFamily="3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a:xfrm>
            <a:off x="189230" y="85725"/>
            <a:ext cx="8517890" cy="773430"/>
          </a:xfrm>
        </p:spPr>
        <p:txBody>
          <a:bodyPr>
            <a:normAutofit fontScale="90000"/>
          </a:bodyPr>
          <a:p>
            <a:r>
              <a:rPr lang="en-US" altLang="en-US">
                <a:latin typeface="Arial" panose="020B0604020202020204" pitchFamily="34" charset="0"/>
              </a:rPr>
              <a:t>Three-Month Analysis</a:t>
            </a:r>
            <a:endParaRPr lang="en-US" altLang="en-US">
              <a:latin typeface="Arial" panose="020B0604020202020204" pitchFamily="34" charset="0"/>
            </a:endParaRPr>
          </a:p>
        </p:txBody>
      </p:sp>
      <p:sp>
        <p:nvSpPr>
          <p:cNvPr id="3" name="Text Placeholder 2"/>
          <p:cNvSpPr>
            <a:spLocks noGrp="1"/>
          </p:cNvSpPr>
          <p:nvPr>
            <p:ph type="body" sz="quarter" idx="17"/>
            <p:custDataLst>
              <p:tags r:id="rId2"/>
            </p:custDataLst>
          </p:nvPr>
        </p:nvSpPr>
        <p:spPr>
          <a:xfrm>
            <a:off x="1374775" y="859155"/>
            <a:ext cx="7637780" cy="5916930"/>
          </a:xfrm>
        </p:spPr>
        <p:txBody>
          <a:bodyPr>
            <a:noAutofit/>
          </a:bodyPr>
          <a:p>
            <a:r>
              <a:rPr lang="en-US" altLang="en-US" sz="1600">
                <a:latin typeface="Arial" panose="020B0604020202020204" pitchFamily="34" charset="0"/>
              </a:rPr>
              <a:t>MARCH 2026                                                                               </a:t>
            </a:r>
            <a:endParaRPr lang="en-US" altLang="en-US" sz="1600">
              <a:latin typeface="Arial" panose="020B0604020202020204" pitchFamily="34" charset="0"/>
            </a:endParaRPr>
          </a:p>
          <a:p>
            <a:r>
              <a:rPr lang="en-US" altLang="en-US" sz="1600">
                <a:latin typeface="Arial" panose="020B0604020202020204" pitchFamily="34" charset="0"/>
              </a:rPr>
              <a:t>₹83,019.50 | 19 Transactions</a:t>
            </a:r>
            <a:endParaRPr lang="en-US" altLang="en-US" sz="1600">
              <a:latin typeface="Arial" panose="020B0604020202020204" pitchFamily="34" charset="0"/>
            </a:endParaRPr>
          </a:p>
          <a:p>
            <a:r>
              <a:rPr lang="en-US" altLang="en-US" sz="1600">
                <a:latin typeface="Arial" panose="020B0604020202020204" pitchFamily="34" charset="0"/>
              </a:rPr>
              <a:t>Avg: ₹4,369.45</a:t>
            </a:r>
            <a:endParaRPr lang="en-US" altLang="en-US" sz="1600">
              <a:latin typeface="Arial" panose="020B0604020202020204" pitchFamily="34" charset="0"/>
            </a:endParaRPr>
          </a:p>
          <a:p>
            <a:endParaRPr lang="en-US" altLang="en-US" sz="1600">
              <a:latin typeface="Arial" panose="020B0604020202020204" pitchFamily="34" charset="0"/>
            </a:endParaRPr>
          </a:p>
          <a:p>
            <a:r>
              <a:rPr lang="en-US" altLang="en-US" sz="1600">
                <a:latin typeface="Arial" panose="020B0604020202020204" pitchFamily="34" charset="0"/>
              </a:rPr>
              <a:t>APRIL 2026</a:t>
            </a:r>
            <a:endParaRPr lang="en-US" altLang="en-US" sz="1600">
              <a:latin typeface="Arial" panose="020B0604020202020204" pitchFamily="34" charset="0"/>
            </a:endParaRPr>
          </a:p>
          <a:p>
            <a:r>
              <a:rPr lang="en-US" altLang="en-US" sz="1600">
                <a:latin typeface="Arial" panose="020B0604020202020204" pitchFamily="34" charset="0"/>
              </a:rPr>
              <a:t>₹75,456.00 | 20 Transactions</a:t>
            </a:r>
            <a:endParaRPr lang="en-US" altLang="en-US" sz="1600">
              <a:latin typeface="Arial" panose="020B0604020202020204" pitchFamily="34" charset="0"/>
            </a:endParaRPr>
          </a:p>
          <a:p>
            <a:r>
              <a:rPr lang="en-US" altLang="en-US" sz="1600">
                <a:latin typeface="Arial" panose="020B0604020202020204" pitchFamily="34" charset="0"/>
              </a:rPr>
              <a:t>Avg: ₹3,772.80</a:t>
            </a:r>
            <a:endParaRPr lang="en-US" altLang="en-US" sz="1600">
              <a:latin typeface="Arial" panose="020B0604020202020204" pitchFamily="34" charset="0"/>
            </a:endParaRPr>
          </a:p>
          <a:p>
            <a:endParaRPr lang="en-US" altLang="en-US" sz="1600">
              <a:latin typeface="Arial" panose="020B0604020202020204" pitchFamily="34" charset="0"/>
            </a:endParaRPr>
          </a:p>
          <a:p>
            <a:r>
              <a:rPr lang="en-US" altLang="en-US" sz="1600">
                <a:latin typeface="Arial" panose="020B0604020202020204" pitchFamily="34" charset="0"/>
              </a:rPr>
              <a:t>MAY 2026</a:t>
            </a:r>
            <a:endParaRPr lang="en-US" altLang="en-US" sz="1600">
              <a:latin typeface="Arial" panose="020B0604020202020204" pitchFamily="34" charset="0"/>
            </a:endParaRPr>
          </a:p>
          <a:p>
            <a:r>
              <a:rPr lang="en-US" altLang="en-US" sz="1600">
                <a:latin typeface="Arial" panose="020B0604020202020204" pitchFamily="34" charset="0"/>
              </a:rPr>
              <a:t>₹53,856.00 | 20 Transactions</a:t>
            </a:r>
            <a:endParaRPr lang="en-US" altLang="en-US" sz="1600">
              <a:latin typeface="Arial" panose="020B0604020202020204" pitchFamily="34" charset="0"/>
            </a:endParaRPr>
          </a:p>
          <a:p>
            <a:r>
              <a:rPr lang="en-US" altLang="en-US" sz="1600">
                <a:latin typeface="Arial" panose="020B0604020202020204" pitchFamily="34" charset="0"/>
              </a:rPr>
              <a:t>Avg: ₹2,692.80</a:t>
            </a:r>
            <a:endParaRPr lang="en-US" altLang="en-US" sz="1600">
              <a:latin typeface="Arial" panose="020B0604020202020204" pitchFamily="34" charset="0"/>
            </a:endParaRPr>
          </a:p>
          <a:p>
            <a:endParaRPr lang="en-US" altLang="en-US" sz="1600">
              <a:latin typeface="Arial" panose="020B0604020202020204" pitchFamily="34" charset="0"/>
            </a:endParaRPr>
          </a:p>
          <a:p>
            <a:r>
              <a:rPr lang="en-US" altLang="en-US">
                <a:latin typeface="Arial" panose="020B0604020202020204" pitchFamily="34" charset="0"/>
              </a:rPr>
              <a:t>Highest: March — ₹83,019.50</a:t>
            </a:r>
            <a:endParaRPr lang="en-US" altLang="en-US">
              <a:latin typeface="Arial" panose="020B0604020202020204" pitchFamily="34" charset="0"/>
            </a:endParaRPr>
          </a:p>
          <a:p>
            <a:r>
              <a:rPr lang="en-US" altLang="en-US">
                <a:latin typeface="Arial" panose="020B0604020202020204" pitchFamily="34" charset="0"/>
              </a:rPr>
              <a:t>Lowest: May — ₹53,856.00</a:t>
            </a:r>
            <a:endParaRPr lang="en-US" altLang="en-US">
              <a:latin typeface="Arial" panose="020B0604020202020204" pitchFamily="34" charset="0"/>
            </a:endParaRPr>
          </a:p>
          <a:p>
            <a:r>
              <a:rPr lang="en-US" altLang="en-US">
                <a:latin typeface="Arial" panose="020B0604020202020204" pitchFamily="34" charset="0"/>
              </a:rPr>
              <a:t>Trend: Spending decreased from March to May.</a:t>
            </a:r>
            <a:endParaRPr lang="en-US" altLang="en-US">
              <a:latin typeface="Arial" panose="020B0604020202020204" pitchFamily="34"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a:xfrm>
            <a:off x="189230" y="245745"/>
            <a:ext cx="6951980" cy="970280"/>
          </a:xfrm>
        </p:spPr>
        <p:txBody>
          <a:bodyPr/>
          <a:p>
            <a:r>
              <a:rPr lang="en-US" altLang="en-US">
                <a:latin typeface="Arial" panose="020B0604020202020204" pitchFamily="34" charset="0"/>
              </a:rPr>
              <a:t>SQL Analysis</a:t>
            </a:r>
            <a:endParaRPr lang="en-US" altLang="en-US">
              <a:latin typeface="Arial" panose="020B0604020202020204" pitchFamily="34" charset="0"/>
            </a:endParaRPr>
          </a:p>
        </p:txBody>
      </p:sp>
      <p:sp>
        <p:nvSpPr>
          <p:cNvPr id="3" name="Text Placeholder 2"/>
          <p:cNvSpPr>
            <a:spLocks noGrp="1"/>
          </p:cNvSpPr>
          <p:nvPr>
            <p:ph type="body" sz="quarter" idx="17"/>
            <p:custDataLst>
              <p:tags r:id="rId2"/>
            </p:custDataLst>
          </p:nvPr>
        </p:nvSpPr>
        <p:spPr>
          <a:xfrm>
            <a:off x="694690" y="1322705"/>
            <a:ext cx="11278235" cy="5335270"/>
          </a:xfrm>
        </p:spPr>
        <p:txBody>
          <a:bodyPr>
            <a:normAutofit fontScale="90000"/>
          </a:bodyPr>
          <a:p>
            <a:r>
              <a:rPr lang="en-US" altLang="en-US">
                <a:latin typeface="Arial" panose="020B0604020202020204" pitchFamily="34" charset="0"/>
              </a:rPr>
              <a:t>01 — Data Management</a:t>
            </a:r>
            <a:endParaRPr lang="en-US" altLang="en-US">
              <a:latin typeface="Arial" panose="020B0604020202020204" pitchFamily="34" charset="0"/>
            </a:endParaRPr>
          </a:p>
          <a:p>
            <a:r>
              <a:rPr lang="en-US" altLang="en-US">
                <a:latin typeface="Arial" panose="020B0604020202020204" pitchFamily="34" charset="0"/>
              </a:rPr>
              <a:t>Created and maintained relational tables.</a:t>
            </a:r>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02 — Data Manipulation</a:t>
            </a:r>
            <a:endParaRPr lang="en-US" altLang="en-US">
              <a:latin typeface="Arial" panose="020B0604020202020204" pitchFamily="34" charset="0"/>
            </a:endParaRPr>
          </a:p>
          <a:p>
            <a:r>
              <a:rPr lang="en-US" altLang="en-US">
                <a:latin typeface="Arial" panose="020B0604020202020204" pitchFamily="34" charset="0"/>
              </a:rPr>
              <a:t>Used INSERT, UPDATE, DELETE and ALTER operations.</a:t>
            </a:r>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03 — Data Analysis</a:t>
            </a:r>
            <a:endParaRPr lang="en-US" altLang="en-US">
              <a:latin typeface="Arial" panose="020B0604020202020204" pitchFamily="34" charset="0"/>
            </a:endParaRPr>
          </a:p>
          <a:p>
            <a:r>
              <a:rPr lang="en-US" altLang="en-US">
                <a:latin typeface="Arial" panose="020B0604020202020204" pitchFamily="34" charset="0"/>
              </a:rPr>
              <a:t>Used SUM, AVG, COUNT, MAX and MIN functions.</a:t>
            </a:r>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04 — Data Filtering</a:t>
            </a:r>
            <a:endParaRPr lang="en-US" altLang="en-US">
              <a:latin typeface="Arial" panose="020B0604020202020204" pitchFamily="34" charset="0"/>
            </a:endParaRPr>
          </a:p>
          <a:p>
            <a:r>
              <a:rPr lang="en-US" altLang="en-US">
                <a:latin typeface="Arial" panose="020B0604020202020204" pitchFamily="34" charset="0"/>
              </a:rPr>
              <a:t>Used WHERE, GROUP BY, HAVING and ORDER BY.</a:t>
            </a:r>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05 — Expense Insights</a:t>
            </a:r>
            <a:endParaRPr lang="en-US" altLang="en-US">
              <a:latin typeface="Arial" panose="020B0604020202020204" pitchFamily="34" charset="0"/>
            </a:endParaRPr>
          </a:p>
          <a:p>
            <a:r>
              <a:rPr lang="en-US" altLang="en-US">
                <a:latin typeface="Arial" panose="020B0604020202020204" pitchFamily="34" charset="0"/>
              </a:rPr>
              <a:t>Analyzed monthly spending, expense patterns and payment behaviour.</a:t>
            </a:r>
            <a:endParaRPr lang="en-US" altLang="en-US">
              <a:latin typeface="Arial" panose="020B0604020202020204" pitchFamily="3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a:xfrm>
            <a:off x="377825" y="428625"/>
            <a:ext cx="6915785" cy="859790"/>
          </a:xfrm>
        </p:spPr>
        <p:txBody>
          <a:bodyPr/>
          <a:p>
            <a:r>
              <a:rPr lang="en-US" altLang="en-US">
                <a:latin typeface="Arial" panose="020B0604020202020204" pitchFamily="34" charset="0"/>
              </a:rPr>
              <a:t>Recommendations</a:t>
            </a:r>
            <a:endParaRPr lang="en-US" altLang="en-US">
              <a:latin typeface="Arial" panose="020B0604020202020204" pitchFamily="34" charset="0"/>
            </a:endParaRPr>
          </a:p>
        </p:txBody>
      </p:sp>
      <p:sp>
        <p:nvSpPr>
          <p:cNvPr id="3" name="Text Placeholder 2"/>
          <p:cNvSpPr>
            <a:spLocks noGrp="1"/>
          </p:cNvSpPr>
          <p:nvPr>
            <p:ph type="body" sz="quarter" idx="17"/>
            <p:custDataLst>
              <p:tags r:id="rId2"/>
            </p:custDataLst>
          </p:nvPr>
        </p:nvSpPr>
        <p:spPr>
          <a:xfrm>
            <a:off x="953770" y="1078230"/>
            <a:ext cx="11856085" cy="5866765"/>
          </a:xfrm>
        </p:spPr>
        <p:txBody>
          <a:bodyPr/>
          <a:p>
            <a:r>
              <a:rPr lang="en-US"/>
              <a:t>署名占位符</a:t>
            </a:r>
            <a:endParaRPr lang="en-US"/>
          </a:p>
        </p:txBody>
      </p:sp>
      <p:sp>
        <p:nvSpPr>
          <p:cNvPr id="4" name="Text Placeholder 2"/>
          <p:cNvSpPr>
            <a:spLocks noGrp="1"/>
          </p:cNvSpPr>
          <p:nvPr>
            <p:custDataLst>
              <p:tags r:id="rId3"/>
            </p:custDataLst>
          </p:nvPr>
        </p:nvSpPr>
        <p:spPr>
          <a:xfrm>
            <a:off x="1666875" y="1288415"/>
            <a:ext cx="10525125" cy="5865495"/>
          </a:xfrm>
          <a:prstGeom prst="rect">
            <a:avLst/>
          </a:prstGeom>
        </p:spPr>
        <p:txBody>
          <a:bodyPr vert="horz" lIns="0" tIns="0" rIns="0" bIns="0" rtlCol="0" anchor="ct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Arial" panose="020B0604020202020204" pitchFamily="34" charset="0"/>
                <a:cs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3200">
                <a:latin typeface="Arial" panose="020B0604020202020204" pitchFamily="34" charset="0"/>
              </a:rPr>
              <a:t>Household expenses should be monitored regularly and a monthly budget should be maintained to control unnecessary spending. Recurring expenses such as bills, subscriptions and EMIs should be reviewed periodically. High-value and unexpected expenses should be planned in advance, while expense records should be updated regularly to maintain accurate financial information. This will help improve budgeting, spending control and overall financial planning.</a:t>
            </a:r>
            <a:endParaRPr lang="en-US" altLang="en-US" sz="3200">
              <a:latin typeface="Arial" panose="020B0604020202020204" pitchFamily="34" charset="0"/>
            </a:endParaRPr>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a:xfrm>
            <a:off x="313055" y="258445"/>
            <a:ext cx="6951980" cy="822325"/>
          </a:xfrm>
        </p:spPr>
        <p:txBody>
          <a:bodyPr>
            <a:normAutofit fontScale="90000"/>
          </a:bodyPr>
          <a:p>
            <a:r>
              <a:rPr lang="en-US" altLang="en-US">
                <a:latin typeface="Arial" panose="020B0604020202020204" pitchFamily="34" charset="0"/>
              </a:rPr>
              <a:t>Conclusion</a:t>
            </a:r>
            <a:endParaRPr lang="en-US" altLang="en-US">
              <a:latin typeface="Arial" panose="020B0604020202020204" pitchFamily="34" charset="0"/>
            </a:endParaRPr>
          </a:p>
        </p:txBody>
      </p:sp>
      <p:sp>
        <p:nvSpPr>
          <p:cNvPr id="3" name="Text Placeholder 2"/>
          <p:cNvSpPr>
            <a:spLocks noGrp="1"/>
          </p:cNvSpPr>
          <p:nvPr>
            <p:ph type="body" sz="quarter" idx="17"/>
            <p:custDataLst>
              <p:tags r:id="rId2"/>
            </p:custDataLst>
          </p:nvPr>
        </p:nvSpPr>
        <p:spPr>
          <a:xfrm>
            <a:off x="694690" y="1988185"/>
            <a:ext cx="10538460" cy="4509770"/>
          </a:xfrm>
        </p:spPr>
        <p:txBody>
          <a:bodyPr/>
          <a:p>
            <a:r>
              <a:rPr lang="en-US" altLang="en-US" sz="2800">
                <a:latin typeface="Arial" panose="020B0604020202020204" pitchFamily="34" charset="0"/>
              </a:rPr>
              <a:t>The household expense analysis successfully organized and analyzed 59 expense transactions from March to May 2026 using PostgreSQL. The analysis shows that March had the highest expenditure (₹83,019.50), while May had the lowest (₹53,856.00), indicating a decreasing spending trend over the three months. Overall, the system helps in understanding spending patterns, identifying major expenses, and supporting better household budgeting and financial planning.</a:t>
            </a:r>
            <a:endParaRPr lang="en-US" altLang="en-US" sz="2800">
              <a:latin typeface="Arial" panose="020B0604020202020204" pitchFamily="34"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p:cNvSpPr>
            <a:spLocks noGrp="1"/>
          </p:cNvSpPr>
          <p:nvPr>
            <p:ph type="ctrTitle"/>
            <p:custDataLst>
              <p:tags r:id="rId1"/>
            </p:custDataLst>
          </p:nvPr>
        </p:nvSpPr>
        <p:spPr/>
        <p:txBody>
          <a:bodyPr/>
          <a:lstStyle/>
          <a:p>
            <a:r>
              <a:rPr lang="en-US" dirty="0">
                <a:latin typeface="Arial" panose="020B0604020202020204" pitchFamily="34" charset="0"/>
                <a:ea typeface="+mj-ea"/>
              </a:rPr>
              <a:t>THANK </a:t>
            </a:r>
            <a:br>
              <a:rPr lang="en-US" dirty="0">
                <a:latin typeface="Arial" panose="020B0604020202020204" pitchFamily="34" charset="0"/>
                <a:ea typeface="+mj-ea"/>
              </a:rPr>
            </a:br>
            <a:r>
              <a:rPr lang="en-US" dirty="0">
                <a:latin typeface="Arial" panose="020B0604020202020204" pitchFamily="34" charset="0"/>
                <a:ea typeface="+mj-ea"/>
              </a:rPr>
              <a:t>YOU</a:t>
            </a:r>
            <a:endParaRPr lang="en-US" dirty="0">
              <a:latin typeface="Arial" panose="020B0604020202020204" pitchFamily="34" charset="0"/>
              <a:ea typeface="+mj-ea"/>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3.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3.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1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19.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86"/>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2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73"/>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29.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3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31.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3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3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8.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55.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1*f*2"/>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62"/>
</p:tagLst>
</file>

<file path=ppt/tags/tag6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62"/>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4.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62"/>
</p:tagLst>
</file>

<file path=ppt/tags/tag6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462_1*a*1"/>
  <p:tag name="KSO_WM_TEMPLATE_CATEGORY" val="custom"/>
  <p:tag name="KSO_WM_TEMPLATE_INDEX" val="20233462"/>
  <p:tag name="KSO_WM_UNIT_LAYERLEVEL" val="1"/>
  <p:tag name="KSO_WM_TAG_VERSION" val="3.0"/>
  <p:tag name="KSO_WM_BEAUTIFY_FLAG" val="#wm#"/>
  <p:tag name="KSO_WM_UNIT_PRESET_TEXT" val="The title goes here"/>
</p:tagLst>
</file>

<file path=ppt/tags/tag66.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custom20233462_1*f*2"/>
  <p:tag name="KSO_WM_TEMPLATE_CATEGORY" val="custom"/>
  <p:tag name="KSO_WM_TEMPLATE_INDEX" val="20233462"/>
  <p:tag name="KSO_WM_UNIT_LAYERLEVEL" val="1"/>
  <p:tag name="KSO_WM_TAG_VERSION" val="3.0"/>
  <p:tag name="KSO_WM_BEAUTIFY_FLAG" val="#wm#"/>
  <p:tag name="KSO_WM_UNIT_PRESET_TEXT" val="Name"/>
</p:tagLst>
</file>

<file path=ppt/tags/tag67.xml><?xml version="1.0" encoding="utf-8"?>
<p:tagLst xmlns:p="http://schemas.openxmlformats.org/presentationml/2006/main">
  <p:tag name="KSO_WM_TEMPLATE_THUMBS_INDEX" val="1、9"/>
  <p:tag name="KSO_WM_SPECIAL_SOURCE" val="bdnull"/>
  <p:tag name="KSO_WM_SLIDE_ID" val="custom20233462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62"/>
  <p:tag name="KSO_WM_SLIDE_LAYOUT" val="a_f"/>
  <p:tag name="KSO_WM_SLIDE_LAYOUT_CNT" val="1_1"/>
  <p:tag name="KSO_WM_SLIDE_THEME_ID" val="3313952"/>
  <p:tag name="KSO_WM_SLIDE_THEME_NAME" val="Black Business"/>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62_4*a*1"/>
  <p:tag name="KSO_WM_TEMPLATE_CATEGORY" val="custom"/>
  <p:tag name="KSO_WM_TEMPLATE_INDEX" val="20233462"/>
  <p:tag name="KSO_WM_UNIT_LAYERLEVEL" val="1"/>
  <p:tag name="KSO_WM_TAG_VERSION" val="3.0"/>
  <p:tag name="KSO_WM_BEAUTIFY_FLAG" val="#wm#"/>
  <p:tag name="KSO_WM_UNIT_ISCONTENTSTITLE" val="1"/>
  <p:tag name="KSO_WM_UNIT_ISNUMDGMTITLE" val="0"/>
  <p:tag name="KSO_WM_UNIT_NOCLEAR" val="0"/>
  <p:tag name="KSO_WM_UNIT_VALUE" val="15"/>
  <p:tag name="KSO_WM_DIAGRAM_GROUP_CODE" val="l1-1"/>
  <p:tag name="KSO_WM_UNIT_TYPE" val="a"/>
  <p:tag name="KSO_WM_UNIT_INDEX" val="1"/>
  <p:tag name="KSO_WM_UNIT_PRESET_TEXT" val="Contents "/>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62_4*l_h_i*1_1_1"/>
  <p:tag name="KSO_WM_TEMPLATE_CATEGORY" val="custom"/>
  <p:tag name="KSO_WM_TEMPLATE_INDEX" val="20233462"/>
  <p:tag name="KSO_WM_UNIT_LAYERLEVEL" val="1_1_1"/>
  <p:tag name="KSO_WM_TAG_VERSION" val="3.0"/>
  <p:tag name="KSO_WM_BEAUTIFY_FLAG" val="#wm#"/>
  <p:tag name="KSO_WM_DIAGRAM_GROUP_CODE" val="l1-1"/>
  <p:tag name="KSO_WM_UNIT_SUBTYPE" val="d"/>
  <p:tag name="KSO_WM_UNIT_TYPE" val="l_h_i"/>
  <p:tag name="KSO_WM_UNIT_INDEX" val="1_1_1"/>
  <p:tag name="KSO_WM_DIAGRAM_VERSION" val="3"/>
  <p:tag name="KSO_WM_DIAGRAM_COLOR_TRICK" val="1"/>
  <p:tag name="KSO_WM_DIAGRAM_COLOR_TEXT_CAN_REMOVE" val="n"/>
  <p:tag name="KSO_WM_UNIT_PRESET_TEXT" val="01"/>
  <p:tag name="KSO_WM_DIAGRAM_MAX_ITEMCNT" val="6"/>
  <p:tag name="KSO_WM_DIAGRAM_MIN_ITEMCNT" val="2"/>
  <p:tag name="KSO_WM_DIAGRAM_VIRTUALLY_FRAME" val="{&quot;height&quot;:404.11854248046876,&quot;left&quot;:444.35,&quot;top&quot;:102.25,&quot;width&quot;:63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62_4*l_h_f*1_1_1"/>
  <p:tag name="KSO_WM_TEMPLATE_CATEGORY" val="custom"/>
  <p:tag name="KSO_WM_TEMPLATE_INDEX" val="20233462"/>
  <p:tag name="KSO_WM_UNIT_LAYERLEVEL" val="1_1_1"/>
  <p:tag name="KSO_WM_TAG_VERSION" val="3.0"/>
  <p:tag name="KSO_WM_BEAUTIFY_FLAG" val="#wm#"/>
  <p:tag name="KSO_WM_UNIT_SUBTYPE" val="a"/>
  <p:tag name="KSO_WM_UNIT_PRESET_TEXT_INDEX" val="0"/>
  <p:tag name="KSO_WM_UNIT_PRESET_TEXT_LEN" val="0"/>
  <p:tag name="KSO_WM_UNIT_NOCLEAR" val="0"/>
  <p:tag name="KSO_WM_UNIT_VALUE" val="40"/>
  <p:tag name="KSO_WM_DIAGRAM_GROUP_CODE" val="l1-1"/>
  <p:tag name="KSO_WM_UNIT_TYPE" val="l_h_f"/>
  <p:tag name="KSO_WM_UNIT_INDEX" val="1_1_1"/>
  <p:tag name="KSO_WM_DIAGRAM_VERSION" val="3"/>
  <p:tag name="KSO_WM_DIAGRAM_COLOR_TRICK" val="1"/>
  <p:tag name="KSO_WM_DIAGRAM_COLOR_TEXT_CAN_REMOVE" val="n"/>
  <p:tag name="KSO_WM_UNIT_PRESET_TEXT" val="Your title here"/>
  <p:tag name="KSO_WM_DIAGRAM_MAX_ITEMCNT" val="6"/>
  <p:tag name="KSO_WM_DIAGRAM_MIN_ITEMCNT" val="2"/>
  <p:tag name="KSO_WM_DIAGRAM_VIRTUALLY_FRAME" val="{&quot;height&quot;:404.11854248046876,&quot;left&quot;:444.35,&quot;top&quot;:102.25,&quot;width&quot;:63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62_4*l_h_f*1_3_1"/>
  <p:tag name="KSO_WM_TEMPLATE_CATEGORY" val="custom"/>
  <p:tag name="KSO_WM_TEMPLATE_INDEX" val="20233462"/>
  <p:tag name="KSO_WM_UNIT_LAYERLEVEL" val="1_1_1"/>
  <p:tag name="KSO_WM_TAG_VERSION" val="3.0"/>
  <p:tag name="KSO_WM_BEAUTIFY_FLAG" val="#wm#"/>
  <p:tag name="KSO_WM_UNIT_SUBTYPE" val="a"/>
  <p:tag name="KSO_WM_UNIT_PRESET_TEXT_INDEX" val="0"/>
  <p:tag name="KSO_WM_UNIT_PRESET_TEXT_LEN" val="0"/>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PRESET_TEXT" val="Your title here"/>
  <p:tag name="KSO_WM_DIAGRAM_MAX_ITEMCNT" val="6"/>
  <p:tag name="KSO_WM_DIAGRAM_MIN_ITEMCNT" val="2"/>
  <p:tag name="KSO_WM_DIAGRAM_VIRTUALLY_FRAME" val="{&quot;height&quot;:404.11854248046876,&quot;left&quot;:444.35,&quot;top&quot;:102.25,&quot;width&quot;:63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62_4*l_h_f*1_4_1"/>
  <p:tag name="KSO_WM_TEMPLATE_CATEGORY" val="custom"/>
  <p:tag name="KSO_WM_TEMPLATE_INDEX" val="20233462"/>
  <p:tag name="KSO_WM_UNIT_LAYERLEVEL" val="1_1_1"/>
  <p:tag name="KSO_WM_TAG_VERSION" val="3.0"/>
  <p:tag name="KSO_WM_BEAUTIFY_FLAG" val="#wm#"/>
  <p:tag name="KSO_WM_UNIT_SUBTYPE" val="a"/>
  <p:tag name="KSO_WM_UNIT_PRESET_TEXT_INDEX" val="0"/>
  <p:tag name="KSO_WM_UNIT_PRESET_TEXT_LEN" val="0"/>
  <p:tag name="KSO_WM_UNIT_NOCLEAR" val="0"/>
  <p:tag name="KSO_WM_DIAGRAM_GROUP_CODE" val="l1-1"/>
  <p:tag name="KSO_WM_UNIT_TYPE" val="l_h_f"/>
  <p:tag name="KSO_WM_UNIT_INDEX" val="1_4_1"/>
  <p:tag name="KSO_WM_DIAGRAM_VERSION" val="3"/>
  <p:tag name="KSO_WM_DIAGRAM_COLOR_TRICK" val="1"/>
  <p:tag name="KSO_WM_DIAGRAM_COLOR_TEXT_CAN_REMOVE" val="n"/>
  <p:tag name="KSO_WM_UNIT_PRESET_TEXT" val="Your title here"/>
  <p:tag name="KSO_WM_DIAGRAM_MAX_ITEMCNT" val="6"/>
  <p:tag name="KSO_WM_DIAGRAM_MIN_ITEMCNT" val="2"/>
  <p:tag name="KSO_WM_DIAGRAM_VIRTUALLY_FRAME" val="{&quot;height&quot;:404.11854248046876,&quot;left&quot;:444.35,&quot;top&quot;:102.25,&quot;width&quot;:63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62_4*l_h_f*1_2_1"/>
  <p:tag name="KSO_WM_TEMPLATE_CATEGORY" val="custom"/>
  <p:tag name="KSO_WM_TEMPLATE_INDEX" val="20233462"/>
  <p:tag name="KSO_WM_UNIT_LAYERLEVEL" val="1_1_1"/>
  <p:tag name="KSO_WM_TAG_VERSION" val="3.0"/>
  <p:tag name="KSO_WM_BEAUTIFY_FLAG" val="#wm#"/>
  <p:tag name="KSO_WM_UNIT_SUBTYPE" val="a"/>
  <p:tag name="KSO_WM_UNIT_PRESET_TEXT_INDEX" val="0"/>
  <p:tag name="KSO_WM_UNIT_PRESET_TEXT_LEN" val="0"/>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PRESET_TEXT" val="Your title here"/>
  <p:tag name="KSO_WM_DIAGRAM_MAX_ITEMCNT" val="6"/>
  <p:tag name="KSO_WM_DIAGRAM_MIN_ITEMCNT" val="2"/>
  <p:tag name="KSO_WM_DIAGRAM_VIRTUALLY_FRAME" val="{&quot;height&quot;:404.11854248046876,&quot;left&quot;:444.35,&quot;top&quot;:102.25,&quot;width&quot;:63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4.xml><?xml version="1.0" encoding="utf-8"?>
<p:tagLst xmlns:p="http://schemas.openxmlformats.org/presentationml/2006/main">
  <p:tag name="KSO_WM_SLIDE_ID" val="custom20233462_4"/>
  <p:tag name="KSO_WM_TEMPLATE_SUBCATEGORY" val="0"/>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3462"/>
  <p:tag name="KSO_WM_SLIDE_TYPE" val="contents"/>
  <p:tag name="KSO_WM_SLIDE_SUBTYPE" val="diag"/>
  <p:tag name="KSO_WM_DIAGRAM_GROUP_CODE" val="l1-1"/>
  <p:tag name="KSO_WM_SLIDE_DIAGTYPE" val="l"/>
  <p:tag name="KSO_WM_SLIDE_LAYOUT" val="a_l"/>
  <p:tag name="KSO_WM_SLIDE_LAYOUT_CNT" val="1_1"/>
  <p:tag name="KSO_WM_SLIDE_THEME_ID" val="3313952"/>
  <p:tag name="KSO_WM_SLIDE_THEME_NAME" val="Black Business"/>
</p:tagLst>
</file>

<file path=ppt/tags/tag75.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3462_7*a*1"/>
  <p:tag name="KSO_WM_TEMPLATE_CATEGORY" val="custom"/>
  <p:tag name="KSO_WM_TEMPLATE_INDEX" val="20233462"/>
  <p:tag name="KSO_WM_UNIT_LAYERLEVEL" val="1"/>
  <p:tag name="KSO_WM_TAG_VERSION" val="3.0"/>
  <p:tag name="KSO_WM_BEAUTIFY_FLAG" val="#wm#"/>
  <p:tag name="KSO_WM_UNIT_PRESET_TEXT" val="Your title here"/>
</p:tagLst>
</file>

<file path=ppt/tags/tag76.xml><?xml version="1.0" encoding="utf-8"?>
<p:tagLst xmlns:p="http://schemas.openxmlformats.org/presentationml/2006/main">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custom20233462_7*e*1"/>
  <p:tag name="KSO_WM_TEMPLATE_CATEGORY" val="custom"/>
  <p:tag name="KSO_WM_TEMPLATE_INDEX" val="20233462"/>
  <p:tag name="KSO_WM_UNIT_LAYERLEVEL" val="1"/>
  <p:tag name="KSO_WM_TAG_VERSION" val="3.0"/>
  <p:tag name="KSO_WM_BEAUTIFY_FLAG" val="#wm#"/>
  <p:tag name="KSO_WM_UNIT_PRESET_TEXT" val="01"/>
</p:tagLst>
</file>

<file path=ppt/tags/tag77.xml><?xml version="1.0" encoding="utf-8"?>
<p:tagLst xmlns:p="http://schemas.openxmlformats.org/presentationml/2006/main">
  <p:tag name="KSO_WM_SPECIAL_SOURCE" val="bdnull"/>
  <p:tag name="KSO_WM_SLIDE_ID" val="custom20233462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3462"/>
  <p:tag name="KSO_WM_SLIDE_LAYOUT" val="a_e"/>
  <p:tag name="KSO_WM_SLIDE_LAYOUT_CNT" val="1_1"/>
  <p:tag name="KSO_WM_SLIDE_THEME_ID" val="3313952"/>
  <p:tag name="KSO_WM_SLIDE_THEME_NAME" val="Black Business"/>
</p:tagLst>
</file>

<file path=ppt/tags/tag7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79.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33462"/>
</p:tagLst>
</file>

<file path=ppt/tags/tag8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82.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33462"/>
</p:tagLst>
</file>

<file path=ppt/tags/tag8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85.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33462"/>
</p:tagLst>
</file>

<file path=ppt/tags/tag8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88.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33462"/>
</p:tagLst>
</file>

<file path=ppt/tags/tag9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91.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92.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33462"/>
</p:tagLst>
</file>

<file path=ppt/tags/tag9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95.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96.xml><?xml version="1.0" encoding="utf-8"?>
<p:tagLst xmlns:p="http://schemas.openxmlformats.org/presentationml/2006/main">
  <p:tag name="KSO_WM_BEAUTIFY_FLAG" val="#wm#"/>
  <p:tag name="KSO_WM_TEMPLATE_CATEGORY" val="custom"/>
  <p:tag name="KSO_WM_TEMPLATE_INDEX" val="20233462"/>
</p:tagLst>
</file>

<file path=ppt/tags/tag97.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3462_9*a*1"/>
  <p:tag name="KSO_WM_TEMPLATE_CATEGORY" val="custom"/>
  <p:tag name="KSO_WM_TEMPLATE_INDEX" val="20233462"/>
  <p:tag name="KSO_WM_UNIT_LAYERLEVEL" val="1"/>
  <p:tag name="KSO_WM_TAG_VERSION" val="3.0"/>
  <p:tag name="KSO_WM_BEAUTIFY_FLAG" val="#wm#"/>
  <p:tag name="KSO_WM_UNIT_PRESET_TEXT" val="THANKS"/>
</p:tagLst>
</file>

<file path=ppt/tags/tag98.xml><?xml version="1.0" encoding="utf-8"?>
<p:tagLst xmlns:p="http://schemas.openxmlformats.org/presentationml/2006/main">
  <p:tag name="KSO_WM_SPECIAL_SOURCE" val="bdnull"/>
  <p:tag name="KSO_WM_SLIDE_ID" val="custom20233462_9"/>
  <p:tag name="KSO_WM_TEMPLATE_SUBCATEGORY" val="29"/>
  <p:tag name="KSO_WM_TEMPLATE_MASTER_TYPE" val="0"/>
  <p:tag name="KSO_WM_TEMPLATE_COLOR_TYPE" val="0"/>
  <p:tag name="KSO_WM_SLIDE_TYPE" val="endPage"/>
  <p:tag name="KSO_WM_SLIDE_SUBTYPE" val="pureTxt"/>
  <p:tag name="KSO_WM_SLIDE_ITEM_CNT" val="0"/>
  <p:tag name="KSO_WM_SLIDE_INDEX" val="9"/>
  <p:tag name="KSO_WM_TAG_VERSION" val="3.0"/>
  <p:tag name="KSO_WM_BEAUTIFY_FLAG" val="#wm#"/>
  <p:tag name="KSO_WM_TEMPLATE_CATEGORY" val="custom"/>
  <p:tag name="KSO_WM_TEMPLATE_INDEX" val="20233462"/>
  <p:tag name="KSO_WM_SLIDE_LAYOUT" val="a_f"/>
  <p:tag name="KSO_WM_SLIDE_LAYOUT_CNT" val="1_1"/>
  <p:tag name="KSO_WM_SLIDE_THEME_ID" val="3313952"/>
  <p:tag name="KSO_WM_SLIDE_THEME_NAME" val="Black Business"/>
</p:tagLst>
</file>

<file path=ppt/theme/theme1.xml><?xml version="1.0" encoding="utf-8"?>
<a:theme xmlns:a="http://schemas.openxmlformats.org/drawingml/2006/main" name="1_Office Theme">
  <a:themeElements>
    <a:clrScheme name="自定义 100">
      <a:dk1>
        <a:srgbClr val="000000"/>
      </a:dk1>
      <a:lt1>
        <a:srgbClr val="FFFFFF"/>
      </a:lt1>
      <a:dk2>
        <a:srgbClr val="001548"/>
      </a:dk2>
      <a:lt2>
        <a:srgbClr val="F5F7FF"/>
      </a:lt2>
      <a:accent1>
        <a:srgbClr val="615DFF"/>
      </a:accent1>
      <a:accent2>
        <a:srgbClr val="33C6FD"/>
      </a:accent2>
      <a:accent3>
        <a:srgbClr val="6694FC"/>
      </a:accent3>
      <a:accent4>
        <a:srgbClr val="9963FA"/>
      </a:accent4>
      <a:accent5>
        <a:srgbClr val="CC31F9"/>
      </a:accent5>
      <a:accent6>
        <a:srgbClr val="E646C8"/>
      </a:accent6>
      <a:hlink>
        <a:srgbClr val="304FFE"/>
      </a:hlink>
      <a:folHlink>
        <a:srgbClr val="492067"/>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3125</Words>
  <Application>WPS Presentation</Application>
  <PresentationFormat>Widescreen</PresentationFormat>
  <Paragraphs>93</Paragraphs>
  <Slides>10</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SimSun</vt:lpstr>
      <vt:lpstr>Wingdings</vt:lpstr>
      <vt:lpstr>Inter Bold</vt:lpstr>
      <vt:lpstr>Segoe Print</vt:lpstr>
      <vt:lpstr>Inter</vt:lpstr>
      <vt:lpstr>Microsoft YaHei</vt:lpstr>
      <vt:lpstr>Arial Unicode MS</vt:lpstr>
      <vt:lpstr>Calibri</vt:lpstr>
      <vt:lpstr>Arial Black</vt:lpstr>
      <vt:lpstr>Algerian</vt:lpstr>
      <vt:lpstr>Agency FB</vt:lpstr>
      <vt:lpstr>Bell MT</vt:lpstr>
      <vt:lpstr>Bauhaus 93</vt:lpstr>
      <vt:lpstr>Bahnschrift SemiCondensed</vt:lpstr>
      <vt:lpstr>1_Office Theme</vt:lpstr>
      <vt:lpstr>PERSONAL HOUSEHOLD           EXPENSE MANAGEMENT &amp;              ANALYSIS SYSTEM </vt:lpstr>
      <vt:lpstr>Business Understanding</vt:lpstr>
      <vt:lpstr>01 Maintain household expenses systematically.  02 Categorize expenses into different spending areas.  03 Track family members, vendors and payment methods.  04 Compare household expenses across three months.  05 Identify major, recurring and high-value expenses.  06 Analyze payment behaviour and spending patterns.</vt:lpstr>
      <vt:lpstr>Constraints &amp; Challenges</vt:lpstr>
      <vt:lpstr>Data Understanding</vt:lpstr>
      <vt:lpstr>Three-Month Analysis</vt:lpstr>
      <vt:lpstr>SQL Analysis</vt:lpstr>
      <vt:lpstr>Recommendations</vt:lpstr>
      <vt:lpstr>Conclusion</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HOUSEHOLD           EXPENSE MANAGEMENT &amp;              ANALYSIS SYSTEM </dc:title>
  <dc:creator>JS COMPUTERS</dc:creator>
  <cp:lastModifiedBy>Rohit Wagh</cp:lastModifiedBy>
  <cp:revision>2</cp:revision>
  <dcterms:created xsi:type="dcterms:W3CDTF">2026-09-06T21:15:00Z</dcterms:created>
  <dcterms:modified xsi:type="dcterms:W3CDTF">2026-09-07T04:21:23Z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CFD430A4EC8B440C81BCC86736F0FF02_11</vt:lpwstr>
  </property>
</Properties>
</file>